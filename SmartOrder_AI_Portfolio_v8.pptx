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84" r:id="rId2"/>
    <p:sldId id="257" r:id="rId3"/>
    <p:sldId id="288" r:id="rId4"/>
    <p:sldId id="289" r:id="rId5"/>
    <p:sldId id="261" r:id="rId6"/>
    <p:sldId id="298" r:id="rId7"/>
    <p:sldId id="297" r:id="rId8"/>
    <p:sldId id="294" r:id="rId9"/>
    <p:sldId id="296" r:id="rId10"/>
    <p:sldId id="263" r:id="rId11"/>
    <p:sldId id="269" r:id="rId12"/>
    <p:sldId id="270" r:id="rId13"/>
    <p:sldId id="271" r:id="rId14"/>
    <p:sldId id="292" r:id="rId15"/>
    <p:sldId id="293" r:id="rId16"/>
    <p:sldId id="265" r:id="rId17"/>
  </p:sldIdLst>
  <p:sldSz cx="12192000" cy="6858000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6" d="100"/>
          <a:sy n="146" d="100"/>
        </p:scale>
        <p:origin x="81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80C8DA-D967-4781-B277-12762D06D4D2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E109EC-2BFC-48E0-80C1-75DA57871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3231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09CA6-414C-B8D6-CB80-293CDD487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3E76A2-91C1-920D-3310-E407FBE0A4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666A2C-A1A1-CE13-3C82-CA9E74D1E8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39FE44-D38B-BDA0-93E4-97E7AAEBD8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7705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sz="240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5574" y="6459321"/>
            <a:ext cx="1429124" cy="34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209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rgbClr val="F9F7F7"/>
          </a:solidFill>
          <a:ln/>
        </p:spPr>
        <p:txBody>
          <a:bodyPr/>
          <a:lstStyle/>
          <a:p>
            <a:endParaRPr lang="ko-KR" altLang="en-US" sz="24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456" y="141685"/>
            <a:ext cx="438308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93" y="2666817"/>
            <a:ext cx="533509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667" dirty="0">
                <a:solidFill>
                  <a:srgbClr val="201B18"/>
                </a:solidFill>
                <a:latin typeface="+mj-ea"/>
                <a:ea typeface="+mj-ea"/>
                <a:cs typeface="Platypi Medium" pitchFamily="34" charset="-120"/>
              </a:rPr>
              <a:t>SmartOrder AI</a:t>
            </a:r>
            <a:endParaRPr lang="en-US" sz="3667" dirty="0">
              <a:latin typeface="+mj-ea"/>
              <a:ea typeface="+mj-ea"/>
            </a:endParaRPr>
          </a:p>
        </p:txBody>
      </p:sp>
      <p:sp>
        <p:nvSpPr>
          <p:cNvPr id="5" name="Text 2"/>
          <p:cNvSpPr/>
          <p:nvPr/>
        </p:nvSpPr>
        <p:spPr>
          <a:xfrm>
            <a:off x="661493" y="3540933"/>
            <a:ext cx="6297017" cy="355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ko-KR" altLang="en-US" sz="1467" dirty="0">
                <a:solidFill>
                  <a:srgbClr val="504C49"/>
                </a:solidFill>
                <a:latin typeface="+mn-ea"/>
                <a:cs typeface="Source Serif 4" pitchFamily="34" charset="-120"/>
              </a:rPr>
              <a:t>AI 기반 음성/터치 하이브리드 키오스크 시스템</a:t>
            </a:r>
            <a:endParaRPr lang="ko-KR" altLang="en-US" sz="1467" dirty="0">
              <a:latin typeface="+mn-ea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EBDD176-4ACE-A359-2FEB-5DE65F59939B}"/>
              </a:ext>
            </a:extLst>
          </p:cNvPr>
          <p:cNvGrpSpPr/>
          <p:nvPr/>
        </p:nvGrpSpPr>
        <p:grpSpPr>
          <a:xfrm>
            <a:off x="661493" y="4064391"/>
            <a:ext cx="936203" cy="266402"/>
            <a:chOff x="496119" y="3931190"/>
            <a:chExt cx="936203" cy="266402"/>
          </a:xfrm>
        </p:grpSpPr>
        <p:sp>
          <p:nvSpPr>
            <p:cNvPr id="9" name="Shape 3">
              <a:extLst>
                <a:ext uri="{FF2B5EF4-FFF2-40B4-BE49-F238E27FC236}">
                  <a16:creationId xmlns:a16="http://schemas.microsoft.com/office/drawing/2014/main" id="{F08A23D5-B311-B5B0-EC6E-8F5CB1B04340}"/>
                </a:ext>
              </a:extLst>
            </p:cNvPr>
            <p:cNvSpPr/>
            <p:nvPr/>
          </p:nvSpPr>
          <p:spPr>
            <a:xfrm>
              <a:off x="496119" y="3931190"/>
              <a:ext cx="564059" cy="266402"/>
            </a:xfrm>
            <a:prstGeom prst="roundRect">
              <a:avLst>
                <a:gd name="adj" fmla="val 6386"/>
              </a:avLst>
            </a:prstGeom>
            <a:solidFill>
              <a:srgbClr val="F3E3D8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B1B32138-B08F-F704-8961-551F99CC4830}"/>
                </a:ext>
              </a:extLst>
            </p:cNvPr>
            <p:cNvSpPr/>
            <p:nvPr/>
          </p:nvSpPr>
          <p:spPr>
            <a:xfrm>
              <a:off x="581174" y="3973681"/>
              <a:ext cx="851148" cy="18142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850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2026.07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99794"/>
            <a:ext cx="4572000" cy="646331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맑은 고딕"/>
              </a:defRPr>
            </a:pPr>
            <a:r>
              <a:rPr dirty="0" err="1"/>
              <a:t>목차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221377" y="1146125"/>
            <a:ext cx="7315200" cy="4918782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/>
          <a:p>
            <a:pPr marL="457200" indent="-457200" algn="l">
              <a:lnSpc>
                <a:spcPct val="200000"/>
              </a:lnSpc>
              <a:buFont typeface="+mj-lt"/>
              <a:buAutoNum type="arabicPeriod"/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rPr dirty="0" err="1"/>
              <a:t>프로젝트</a:t>
            </a:r>
            <a:r>
              <a:rPr dirty="0"/>
              <a:t> 개</a:t>
            </a:r>
            <a:r>
              <a:rPr lang="ko-KR" altLang="en-US" dirty="0"/>
              <a:t>요</a:t>
            </a:r>
            <a:endParaRPr lang="en-US" altLang="ko-KR" dirty="0"/>
          </a:p>
          <a:p>
            <a:pPr marL="457200" indent="-457200" algn="l">
              <a:lnSpc>
                <a:spcPct val="200000"/>
              </a:lnSpc>
              <a:buFont typeface="+mj-lt"/>
              <a:buAutoNum type="arabicPeriod"/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rPr lang="ko-KR" altLang="en-US" dirty="0"/>
              <a:t>시스템 아키텍처</a:t>
            </a:r>
            <a:endParaRPr lang="en-US" altLang="ko-KR" dirty="0"/>
          </a:p>
          <a:p>
            <a:pPr marL="457200" indent="-457200" algn="l">
              <a:lnSpc>
                <a:spcPct val="200000"/>
              </a:lnSpc>
              <a:buFont typeface="+mj-lt"/>
              <a:buAutoNum type="arabicPeriod"/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rPr lang="en-US" altLang="ko-KR" dirty="0"/>
              <a:t>AI </a:t>
            </a:r>
            <a:r>
              <a:rPr lang="ko-KR" altLang="en-US" dirty="0"/>
              <a:t>파이프라인</a:t>
            </a:r>
            <a:endParaRPr lang="en-US" altLang="ko-KR" dirty="0"/>
          </a:p>
          <a:p>
            <a:pPr marL="457200" indent="-457200" algn="l">
              <a:lnSpc>
                <a:spcPct val="200000"/>
              </a:lnSpc>
              <a:buFont typeface="+mj-lt"/>
              <a:buAutoNum type="arabicPeriod"/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rPr lang="ko-KR" altLang="en-US" dirty="0"/>
              <a:t>핵심 기능</a:t>
            </a:r>
            <a:endParaRPr lang="en-US" altLang="ko-KR" dirty="0"/>
          </a:p>
          <a:p>
            <a:pPr marL="457200" indent="-457200" algn="l">
              <a:lnSpc>
                <a:spcPct val="200000"/>
              </a:lnSpc>
              <a:buFont typeface="+mj-lt"/>
              <a:buAutoNum type="arabicPeriod"/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rPr lang="en-US" altLang="ko-KR" dirty="0"/>
              <a:t>UI</a:t>
            </a:r>
          </a:p>
          <a:p>
            <a:pPr marL="457200" indent="-457200" algn="l">
              <a:lnSpc>
                <a:spcPct val="200000"/>
              </a:lnSpc>
              <a:buFont typeface="+mj-lt"/>
              <a:buAutoNum type="arabicPeriod"/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rPr lang="ko-KR" altLang="en-US" dirty="0"/>
              <a:t>시행착오</a:t>
            </a:r>
            <a:endParaRPr lang="en-US" altLang="ko-KR" dirty="0"/>
          </a:p>
          <a:p>
            <a:pPr marL="457200" indent="-457200" algn="l">
              <a:lnSpc>
                <a:spcPct val="200000"/>
              </a:lnSpc>
              <a:buFont typeface="+mj-lt"/>
              <a:buAutoNum type="arabicPeriod"/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rPr lang="ko-KR" altLang="en-US" dirty="0"/>
              <a:t>향후 개선 방향</a:t>
            </a:r>
            <a:endParaRPr lang="en-US" altLang="ko-KR" dirty="0"/>
          </a:p>
          <a:p>
            <a:pPr marL="457200" indent="-457200" algn="l">
              <a:lnSpc>
                <a:spcPct val="200000"/>
              </a:lnSpc>
              <a:buFont typeface="+mj-lt"/>
              <a:buAutoNum type="arabicPeriod"/>
              <a:defRPr sz="2000" b="0">
                <a:solidFill>
                  <a:srgbClr val="000000"/>
                </a:solidFill>
                <a:latin typeface="맑은 고딕"/>
              </a:defRPr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80268-C0FD-50C1-7CE6-6736BAC82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3AD19C9-FB77-BA93-E110-16FEB43242E4}"/>
              </a:ext>
            </a:extLst>
          </p:cNvPr>
          <p:cNvSpPr/>
          <p:nvPr/>
        </p:nvSpPr>
        <p:spPr>
          <a:xfrm>
            <a:off x="496119" y="421853"/>
            <a:ext cx="954584" cy="260821"/>
          </a:xfrm>
          <a:prstGeom prst="roundRect">
            <a:avLst>
              <a:gd name="adj" fmla="val 6421"/>
            </a:avLst>
          </a:prstGeom>
          <a:noFill/>
          <a:ln/>
          <a:effectLst>
            <a:outerShdw blurRad="101600" dist="50800" dir="16200000" algn="bl" rotWithShape="0">
              <a:srgbClr val="3E2513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5956AC5-6EAC-069F-928E-4BACC992F5E6}"/>
              </a:ext>
            </a:extLst>
          </p:cNvPr>
          <p:cNvSpPr/>
          <p:nvPr/>
        </p:nvSpPr>
        <p:spPr>
          <a:xfrm>
            <a:off x="579834" y="463674"/>
            <a:ext cx="124435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ko-KR" altLang="en-US" sz="1500" dirty="0">
                <a:solidFill>
                  <a:srgbClr val="3E2513"/>
                </a:solidFill>
                <a:latin typeface="Source Serif 4" pitchFamily="34" charset="0"/>
                <a:cs typeface="Source Serif 4" pitchFamily="34" charset="-120"/>
              </a:rPr>
              <a:t>01 프로젝트 개요</a:t>
            </a:r>
            <a:endParaRPr lang="ko-KR" sz="15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342B268-1381-7191-929F-870969664CBF}"/>
              </a:ext>
            </a:extLst>
          </p:cNvPr>
          <p:cNvSpPr/>
          <p:nvPr/>
        </p:nvSpPr>
        <p:spPr>
          <a:xfrm>
            <a:off x="579834" y="2687195"/>
            <a:ext cx="5404653" cy="1832553"/>
          </a:xfrm>
          <a:prstGeom prst="roundRect">
            <a:avLst>
              <a:gd name="adj" fmla="val 2047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45915C2-1CE9-B8DA-8234-DAC40EAF863E}"/>
              </a:ext>
            </a:extLst>
          </p:cNvPr>
          <p:cNvSpPr/>
          <p:nvPr/>
        </p:nvSpPr>
        <p:spPr>
          <a:xfrm>
            <a:off x="719360" y="2937290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500" b="1" dirty="0">
                <a:solidFill>
                  <a:srgbClr val="504C49"/>
                </a:solidFill>
                <a:latin typeface="Platypi Medium" pitchFamily="34" charset="0"/>
                <a:cs typeface="Platypi Medium" pitchFamily="34" charset="-120"/>
              </a:rPr>
              <a:t>핵심 목표</a:t>
            </a:r>
            <a:endParaRPr lang="ko-KR" sz="2500" b="1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768B3E5-F349-8AB6-72A8-B59032E2751A}"/>
              </a:ext>
            </a:extLst>
          </p:cNvPr>
          <p:cNvSpPr/>
          <p:nvPr/>
        </p:nvSpPr>
        <p:spPr>
          <a:xfrm>
            <a:off x="830875" y="3429792"/>
            <a:ext cx="526512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2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504C49"/>
                </a:solidFill>
                <a:latin typeface="Source Serif 4" pitchFamily="34" charset="0"/>
                <a:cs typeface="Source Serif 4" pitchFamily="34" charset="-120"/>
              </a:rPr>
              <a:t>음식 주문 어시스턴트</a:t>
            </a:r>
            <a:endParaRPr lang="en-US" altLang="ko-KR" sz="2000" dirty="0">
              <a:solidFill>
                <a:srgbClr val="504C49"/>
              </a:solidFill>
              <a:latin typeface="Source Serif 4" pitchFamily="34" charset="0"/>
              <a:cs typeface="Source Serif 4" pitchFamily="34" charset="-120"/>
            </a:endParaRPr>
          </a:p>
          <a:p>
            <a:pPr marL="342900" indent="-342900" algn="l">
              <a:lnSpc>
                <a:spcPct val="132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개인화된 </a:t>
            </a:r>
            <a:r>
              <a:rPr lang="en-US" altLang="ko-KR" sz="2000" dirty="0"/>
              <a:t>Agent AI</a:t>
            </a:r>
            <a:endParaRPr lang="ko-KR" sz="2000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EAFB317-A814-790F-2BC1-60F91CAB3662}"/>
              </a:ext>
            </a:extLst>
          </p:cNvPr>
          <p:cNvGrpSpPr/>
          <p:nvPr/>
        </p:nvGrpSpPr>
        <p:grpSpPr>
          <a:xfrm>
            <a:off x="6207515" y="2687195"/>
            <a:ext cx="5404653" cy="1832553"/>
            <a:chOff x="4640684" y="1379711"/>
            <a:chExt cx="5404653" cy="1022375"/>
          </a:xfrm>
        </p:grpSpPr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B663C21D-B1C2-A2A9-4EA5-FBD7101CC531}"/>
                </a:ext>
              </a:extLst>
            </p:cNvPr>
            <p:cNvSpPr/>
            <p:nvPr/>
          </p:nvSpPr>
          <p:spPr>
            <a:xfrm>
              <a:off x="4640684" y="1379711"/>
              <a:ext cx="5404653" cy="1022375"/>
            </a:xfrm>
            <a:prstGeom prst="roundRect">
              <a:avLst>
                <a:gd name="adj" fmla="val 2047"/>
              </a:avLst>
            </a:prstGeom>
            <a:solidFill>
              <a:srgbClr val="F9F7F7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D25D8A51-3434-CAF3-AE79-B792CED0E8C8}"/>
                </a:ext>
              </a:extLst>
            </p:cNvPr>
            <p:cNvSpPr/>
            <p:nvPr/>
          </p:nvSpPr>
          <p:spPr>
            <a:xfrm>
              <a:off x="4780211" y="1489629"/>
              <a:ext cx="1744340" cy="2180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ct val="104000"/>
                </a:lnSpc>
              </a:pPr>
              <a:r>
                <a:rPr lang="ko-KR" altLang="en-US" sz="2800" b="1" dirty="0" err="1">
                  <a:solidFill>
                    <a:srgbClr val="504C49"/>
                  </a:solidFill>
                  <a:latin typeface="Source Serif 4" pitchFamily="34" charset="0"/>
                  <a:cs typeface="Source Serif 4" pitchFamily="34" charset="-120"/>
                </a:rPr>
                <a:t>Agent</a:t>
              </a:r>
              <a:r>
                <a:rPr lang="ko-KR" altLang="en-US" sz="2800" b="1" dirty="0">
                  <a:solidFill>
                    <a:srgbClr val="504C49"/>
                  </a:solidFill>
                  <a:latin typeface="Source Serif 4" pitchFamily="34" charset="0"/>
                  <a:cs typeface="Source Serif 4" pitchFamily="34" charset="-120"/>
                </a:rPr>
                <a:t> AI</a:t>
              </a:r>
              <a:endParaRPr lang="ko-KR" sz="2500" b="1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3128ECBE-6B62-2D8B-2711-60325299CBDE}"/>
                </a:ext>
              </a:extLst>
            </p:cNvPr>
            <p:cNvSpPr/>
            <p:nvPr/>
          </p:nvSpPr>
          <p:spPr>
            <a:xfrm>
              <a:off x="4780211" y="1819647"/>
              <a:ext cx="3728145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ct val="132000"/>
                </a:lnSpc>
                <a:buFont typeface="Arial" panose="020B0604020202020204" pitchFamily="34" charset="0"/>
                <a:buChar char="•"/>
              </a:pPr>
              <a:r>
                <a:rPr lang="ko-KR" altLang="en-US" sz="2000" dirty="0">
                  <a:solidFill>
                    <a:srgbClr val="504C49"/>
                  </a:solidFill>
                  <a:latin typeface="Source Serif 4" pitchFamily="34" charset="0"/>
                  <a:cs typeface="Source Serif 4" pitchFamily="34" charset="-120"/>
                </a:rPr>
                <a:t>메뉴 추천부터</a:t>
              </a:r>
              <a:br>
                <a:rPr lang="en-US" altLang="ko-KR" sz="2000" dirty="0">
                  <a:solidFill>
                    <a:srgbClr val="504C49"/>
                  </a:solidFill>
                  <a:latin typeface="Source Serif 4" pitchFamily="34" charset="0"/>
                  <a:cs typeface="Source Serif 4" pitchFamily="34" charset="-120"/>
                </a:rPr>
              </a:br>
              <a:r>
                <a:rPr lang="ko-KR" altLang="en-US" sz="2000" dirty="0" err="1">
                  <a:solidFill>
                    <a:srgbClr val="504C49"/>
                  </a:solidFill>
                  <a:latin typeface="Source Serif 4" pitchFamily="34" charset="0"/>
                  <a:cs typeface="Source Serif 4" pitchFamily="34" charset="-120"/>
                </a:rPr>
                <a:t>주문·결제를</a:t>
              </a:r>
              <a:r>
                <a:rPr lang="ko-KR" altLang="en-US" sz="2000" dirty="0">
                  <a:solidFill>
                    <a:srgbClr val="504C49"/>
                  </a:solidFill>
                  <a:latin typeface="Source Serif 4" pitchFamily="34" charset="0"/>
                  <a:cs typeface="Source Serif 4" pitchFamily="34" charset="-120"/>
                </a:rPr>
                <a:t> AI 대화로 원스톱 처리</a:t>
              </a:r>
              <a:endParaRPr lang="ko-KR" sz="2000" dirty="0"/>
            </a:p>
          </p:txBody>
        </p:sp>
      </p:grpSp>
      <p:sp>
        <p:nvSpPr>
          <p:cNvPr id="11" name="Text 2">
            <a:extLst>
              <a:ext uri="{FF2B5EF4-FFF2-40B4-BE49-F238E27FC236}">
                <a16:creationId xmlns:a16="http://schemas.microsoft.com/office/drawing/2014/main" id="{0A50AE39-A235-760B-0B86-46814E93061B}"/>
              </a:ext>
            </a:extLst>
          </p:cNvPr>
          <p:cNvSpPr/>
          <p:nvPr/>
        </p:nvSpPr>
        <p:spPr>
          <a:xfrm>
            <a:off x="579834" y="754011"/>
            <a:ext cx="656808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000" dirty="0">
                <a:solidFill>
                  <a:srgbClr val="201B18"/>
                </a:solidFill>
                <a:latin typeface="Platypi Medium" pitchFamily="34" charset="0"/>
                <a:cs typeface="Platypi Medium" pitchFamily="34" charset="-120"/>
              </a:rPr>
              <a:t>AI 기반 음성/터치 하이브리드 주문 시스템</a:t>
            </a:r>
            <a:endParaRPr lang="ko-KR" sz="3000" dirty="0"/>
          </a:p>
        </p:txBody>
      </p:sp>
    </p:spTree>
    <p:extLst>
      <p:ext uri="{BB962C8B-B14F-4D97-AF65-F5344CB8AC3E}">
        <p14:creationId xmlns:p14="http://schemas.microsoft.com/office/powerpoint/2010/main" val="3501841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3249C-66AE-8778-2201-F60599BD0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9">
            <a:extLst>
              <a:ext uri="{FF2B5EF4-FFF2-40B4-BE49-F238E27FC236}">
                <a16:creationId xmlns:a16="http://schemas.microsoft.com/office/drawing/2014/main" id="{F0E4D7B7-69DB-9187-7C96-5A6405609B06}"/>
              </a:ext>
            </a:extLst>
          </p:cNvPr>
          <p:cNvSpPr/>
          <p:nvPr/>
        </p:nvSpPr>
        <p:spPr>
          <a:xfrm>
            <a:off x="661493" y="2811177"/>
            <a:ext cx="5342929" cy="1363167"/>
          </a:xfrm>
          <a:prstGeom prst="roundRect">
            <a:avLst>
              <a:gd name="adj" fmla="val 2047"/>
            </a:avLst>
          </a:prstGeom>
          <a:solidFill>
            <a:srgbClr val="F9F7F7"/>
          </a:solidFill>
          <a:ln w="38100">
            <a:noFill/>
          </a:ln>
        </p:spPr>
        <p:txBody>
          <a:bodyPr/>
          <a:lstStyle/>
          <a:p>
            <a:endParaRPr lang="ko-KR" altLang="en-US" sz="2400">
              <a:latin typeface="+mj-ea"/>
              <a:ea typeface="+mj-ea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C6FE410-1EE7-B82F-705C-A7E5AEBF71AA}"/>
              </a:ext>
            </a:extLst>
          </p:cNvPr>
          <p:cNvSpPr/>
          <p:nvPr/>
        </p:nvSpPr>
        <p:spPr>
          <a:xfrm>
            <a:off x="847527" y="2997213"/>
            <a:ext cx="2325787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ko-KR" altLang="en-US" b="1" dirty="0">
                <a:solidFill>
                  <a:srgbClr val="504C49"/>
                </a:solidFill>
                <a:latin typeface="+mj-ea"/>
                <a:ea typeface="+mj-ea"/>
                <a:cs typeface="Platypi Medium" pitchFamily="34" charset="-120"/>
              </a:rPr>
              <a:t>Multi-Agent 라우팅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C3177BE-FB26-ED94-6307-DE678B9A4466}"/>
              </a:ext>
            </a:extLst>
          </p:cNvPr>
          <p:cNvSpPr/>
          <p:nvPr/>
        </p:nvSpPr>
        <p:spPr>
          <a:xfrm>
            <a:off x="847527" y="3397758"/>
            <a:ext cx="4970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2000"/>
              </a:lnSpc>
            </a:pPr>
            <a:r>
              <a:rPr lang="ko-KR" altLang="en-US" sz="1400" dirty="0">
                <a:solidFill>
                  <a:srgbClr val="504C49"/>
                </a:solidFill>
                <a:latin typeface="+mj-ea"/>
                <a:ea typeface="+mj-ea"/>
                <a:cs typeface="Source Serif 4" pitchFamily="34" charset="-120"/>
              </a:rPr>
              <a:t>LangGraph 기반 의도별 분기 처리 (Info / Context / Order)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C091EE6-E889-B5FF-9E30-E99DBAA26866}"/>
              </a:ext>
            </a:extLst>
          </p:cNvPr>
          <p:cNvSpPr/>
          <p:nvPr/>
        </p:nvSpPr>
        <p:spPr>
          <a:xfrm>
            <a:off x="6187580" y="2811177"/>
            <a:ext cx="5342929" cy="1363167"/>
          </a:xfrm>
          <a:prstGeom prst="roundRect">
            <a:avLst>
              <a:gd name="adj" fmla="val 2047"/>
            </a:avLst>
          </a:prstGeom>
          <a:solidFill>
            <a:srgbClr val="F9F7F7"/>
          </a:solidFill>
          <a:ln w="38100">
            <a:noFill/>
          </a:ln>
        </p:spPr>
        <p:txBody>
          <a:bodyPr/>
          <a:lstStyle/>
          <a:p>
            <a:endParaRPr lang="ko-KR" altLang="en-US" sz="2400">
              <a:latin typeface="+mj-ea"/>
              <a:ea typeface="+mj-ea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A80C3E5-A07A-90D3-E5B8-ED0B8A8DAB83}"/>
              </a:ext>
            </a:extLst>
          </p:cNvPr>
          <p:cNvSpPr/>
          <p:nvPr/>
        </p:nvSpPr>
        <p:spPr>
          <a:xfrm>
            <a:off x="6373615" y="2997213"/>
            <a:ext cx="2325787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ko-KR" altLang="en-US" b="1" dirty="0">
                <a:solidFill>
                  <a:srgbClr val="504C49"/>
                </a:solidFill>
                <a:latin typeface="+mj-ea"/>
                <a:ea typeface="+mj-ea"/>
                <a:cs typeface="Platypi Medium" pitchFamily="34" charset="-120"/>
              </a:rPr>
              <a:t>가드레일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0EB9D98-FA39-D8E6-8EB3-CD3D3772F153}"/>
              </a:ext>
            </a:extLst>
          </p:cNvPr>
          <p:cNvSpPr/>
          <p:nvPr/>
        </p:nvSpPr>
        <p:spPr>
          <a:xfrm>
            <a:off x="6373615" y="3397759"/>
            <a:ext cx="4970860" cy="5905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2000"/>
              </a:lnSpc>
            </a:pPr>
            <a:r>
              <a:rPr lang="ko-KR" altLang="en-US" sz="1400" dirty="0">
                <a:solidFill>
                  <a:srgbClr val="504C49"/>
                </a:solidFill>
                <a:latin typeface="+mj-ea"/>
                <a:ea typeface="+mj-ea"/>
                <a:cs typeface="Source Serif 4" pitchFamily="34" charset="-120"/>
              </a:rPr>
              <a:t>AI 환각 방지 Neuro-Symbolic 검증 + 백엔드 규칙 엔진으로 데이터 무결성 보장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48D3084-7AA1-A2E6-8A0E-0A3B120038A3}"/>
              </a:ext>
            </a:extLst>
          </p:cNvPr>
          <p:cNvSpPr/>
          <p:nvPr/>
        </p:nvSpPr>
        <p:spPr>
          <a:xfrm>
            <a:off x="661493" y="4357501"/>
            <a:ext cx="5342929" cy="1363167"/>
          </a:xfrm>
          <a:prstGeom prst="roundRect">
            <a:avLst>
              <a:gd name="adj" fmla="val 2047"/>
            </a:avLst>
          </a:prstGeom>
          <a:solidFill>
            <a:srgbClr val="F9F7F7"/>
          </a:solidFill>
          <a:ln w="38100">
            <a:noFill/>
          </a:ln>
        </p:spPr>
        <p:txBody>
          <a:bodyPr/>
          <a:lstStyle/>
          <a:p>
            <a:endParaRPr lang="ko-KR" altLang="en-US" sz="2400">
              <a:latin typeface="+mj-ea"/>
              <a:ea typeface="+mj-ea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F3A0076-5150-F9CB-C005-0A962135B685}"/>
              </a:ext>
            </a:extLst>
          </p:cNvPr>
          <p:cNvSpPr/>
          <p:nvPr/>
        </p:nvSpPr>
        <p:spPr>
          <a:xfrm>
            <a:off x="847527" y="4543537"/>
            <a:ext cx="2325787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ko-KR" altLang="en-US" b="1" dirty="0">
                <a:solidFill>
                  <a:srgbClr val="504C49"/>
                </a:solidFill>
                <a:latin typeface="+mj-ea"/>
                <a:ea typeface="+mj-ea"/>
                <a:cs typeface="Platypi Medium" pitchFamily="34" charset="-120"/>
              </a:rPr>
              <a:t>전환율 추적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9B94D0B-A4E6-EEE5-91AC-016EED9B6B16}"/>
              </a:ext>
            </a:extLst>
          </p:cNvPr>
          <p:cNvSpPr/>
          <p:nvPr/>
        </p:nvSpPr>
        <p:spPr>
          <a:xfrm>
            <a:off x="847527" y="4944083"/>
            <a:ext cx="4970860" cy="5905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2000"/>
              </a:lnSpc>
            </a:pPr>
            <a:r>
              <a:rPr lang="ko-KR" altLang="en-US" sz="1400" dirty="0">
                <a:solidFill>
                  <a:srgbClr val="504C49"/>
                </a:solidFill>
                <a:latin typeface="+mj-ea"/>
                <a:ea typeface="+mj-ea"/>
                <a:cs typeface="Source Serif 4" pitchFamily="34" charset="-120"/>
              </a:rPr>
              <a:t>AI 대화 로그 → 결제 연동 추적, linkedOrderId 기반 통계 대시보드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B1C4D0C-A8C7-B4E9-1F64-3D9B39A19C68}"/>
              </a:ext>
            </a:extLst>
          </p:cNvPr>
          <p:cNvSpPr/>
          <p:nvPr/>
        </p:nvSpPr>
        <p:spPr>
          <a:xfrm>
            <a:off x="6187580" y="4357501"/>
            <a:ext cx="5342929" cy="1363167"/>
          </a:xfrm>
          <a:prstGeom prst="roundRect">
            <a:avLst>
              <a:gd name="adj" fmla="val 2047"/>
            </a:avLst>
          </a:prstGeom>
          <a:solidFill>
            <a:srgbClr val="F9F7F7"/>
          </a:solidFill>
          <a:ln w="38100">
            <a:noFill/>
          </a:ln>
        </p:spPr>
        <p:txBody>
          <a:bodyPr/>
          <a:lstStyle/>
          <a:p>
            <a:endParaRPr lang="ko-KR" altLang="en-US" sz="2400">
              <a:latin typeface="+mj-ea"/>
              <a:ea typeface="+mj-ea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7206EC3-C5DC-12DF-FC6A-A2BEDD0E3B4D}"/>
              </a:ext>
            </a:extLst>
          </p:cNvPr>
          <p:cNvSpPr/>
          <p:nvPr/>
        </p:nvSpPr>
        <p:spPr>
          <a:xfrm>
            <a:off x="6373615" y="4543537"/>
            <a:ext cx="2325787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ko-KR" altLang="en-US" b="1" dirty="0">
                <a:solidFill>
                  <a:srgbClr val="504C49"/>
                </a:solidFill>
                <a:latin typeface="+mj-ea"/>
                <a:ea typeface="+mj-ea"/>
                <a:cs typeface="Platypi Medium" pitchFamily="34" charset="-120"/>
              </a:rPr>
              <a:t>매장 관리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EC2E93E-D398-807F-1EB9-F043E378ABBE}"/>
              </a:ext>
            </a:extLst>
          </p:cNvPr>
          <p:cNvSpPr/>
          <p:nvPr/>
        </p:nvSpPr>
        <p:spPr>
          <a:xfrm>
            <a:off x="6373615" y="4944082"/>
            <a:ext cx="4970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2000"/>
              </a:lnSpc>
            </a:pPr>
            <a:r>
              <a:rPr lang="ko-KR" altLang="en-US" sz="1400" dirty="0">
                <a:solidFill>
                  <a:srgbClr val="504C49"/>
                </a:solidFill>
                <a:latin typeface="+mj-ea"/>
                <a:ea typeface="+mj-ea"/>
                <a:cs typeface="Source Serif 4" pitchFamily="34" charset="-120"/>
              </a:rPr>
              <a:t>실시간 주문 현황, 메뉴 관리, AI 벡터 동기화, 알림 서랍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27" name="Shape 0">
            <a:extLst>
              <a:ext uri="{FF2B5EF4-FFF2-40B4-BE49-F238E27FC236}">
                <a16:creationId xmlns:a16="http://schemas.microsoft.com/office/drawing/2014/main" id="{AD2B27F2-63D3-F0A2-07C9-943878A81474}"/>
              </a:ext>
            </a:extLst>
          </p:cNvPr>
          <p:cNvSpPr/>
          <p:nvPr/>
        </p:nvSpPr>
        <p:spPr>
          <a:xfrm>
            <a:off x="496119" y="421853"/>
            <a:ext cx="954584" cy="260821"/>
          </a:xfrm>
          <a:prstGeom prst="roundRect">
            <a:avLst>
              <a:gd name="adj" fmla="val 6421"/>
            </a:avLst>
          </a:prstGeom>
          <a:noFill/>
          <a:ln/>
          <a:effectLst>
            <a:outerShdw blurRad="101600" dist="50800" dir="16200000" algn="bl" rotWithShape="0">
              <a:srgbClr val="3E2513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582FAE91-5769-4473-1621-ED8EE57EAA04}"/>
              </a:ext>
            </a:extLst>
          </p:cNvPr>
          <p:cNvSpPr/>
          <p:nvPr/>
        </p:nvSpPr>
        <p:spPr>
          <a:xfrm>
            <a:off x="661493" y="1697481"/>
            <a:ext cx="10869016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2500" b="1" dirty="0">
                <a:solidFill>
                  <a:srgbClr val="201B18"/>
                </a:solidFill>
                <a:latin typeface="Platypi Medium" pitchFamily="34" charset="0"/>
                <a:cs typeface="Platypi Medium" pitchFamily="34" charset="-120"/>
              </a:rPr>
              <a:t>핵심기능</a:t>
            </a:r>
            <a:endParaRPr lang="ko-KR" sz="2500" b="1" dirty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388CF231-B5E2-1B5D-0B7B-63AC012A8D60}"/>
              </a:ext>
            </a:extLst>
          </p:cNvPr>
          <p:cNvSpPr/>
          <p:nvPr/>
        </p:nvSpPr>
        <p:spPr>
          <a:xfrm>
            <a:off x="579834" y="463674"/>
            <a:ext cx="124435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ko-KR" altLang="en-US" sz="1500" dirty="0">
                <a:solidFill>
                  <a:srgbClr val="3E2513"/>
                </a:solidFill>
                <a:latin typeface="Source Serif 4" pitchFamily="34" charset="0"/>
                <a:cs typeface="Source Serif 4" pitchFamily="34" charset="-120"/>
              </a:rPr>
              <a:t>01 프로젝트 개요</a:t>
            </a:r>
            <a:endParaRPr lang="ko-KR" sz="1500" dirty="0"/>
          </a:p>
        </p:txBody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6C1ED63F-86AD-82E1-1487-424E2087F59B}"/>
              </a:ext>
            </a:extLst>
          </p:cNvPr>
          <p:cNvSpPr/>
          <p:nvPr/>
        </p:nvSpPr>
        <p:spPr>
          <a:xfrm>
            <a:off x="579834" y="754011"/>
            <a:ext cx="656808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000" dirty="0">
                <a:solidFill>
                  <a:srgbClr val="201B18"/>
                </a:solidFill>
                <a:latin typeface="Platypi Medium" pitchFamily="34" charset="0"/>
                <a:cs typeface="Platypi Medium" pitchFamily="34" charset="-120"/>
              </a:rPr>
              <a:t>AI 기반 음성/터치 하이브리드 주문 시스템</a:t>
            </a:r>
            <a:endParaRPr lang="ko-KR" sz="3000" dirty="0"/>
          </a:p>
        </p:txBody>
      </p:sp>
    </p:spTree>
    <p:extLst>
      <p:ext uri="{BB962C8B-B14F-4D97-AF65-F5344CB8AC3E}">
        <p14:creationId xmlns:p14="http://schemas.microsoft.com/office/powerpoint/2010/main" val="3504940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017520" y="1286691"/>
            <a:ext cx="6126480" cy="52839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33949" y="1295648"/>
            <a:ext cx="5427617" cy="400110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rPr dirty="0"/>
              <a:t>Docker Compose (Internal Network)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94560"/>
            <a:ext cx="1828800" cy="37621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5375" y="3310614"/>
            <a:ext cx="2135777" cy="1631216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rPr lang="en-US" dirty="0"/>
              <a:t>Customer,</a:t>
            </a:r>
          </a:p>
          <a:p>
            <a:pPr algn="ctr"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rPr lang="en-US" dirty="0" err="1"/>
              <a:t>Sotre</a:t>
            </a:r>
            <a:endParaRPr lang="en-US" dirty="0"/>
          </a:p>
          <a:p>
            <a:pPr algn="ctr"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rPr lang="en-US" dirty="0"/>
              <a:t>Admin</a:t>
            </a:r>
            <a:br>
              <a:rPr dirty="0"/>
            </a:br>
            <a:r>
              <a:rPr dirty="0"/>
              <a:t>(Next.js)</a:t>
            </a:r>
            <a:endParaRPr lang="en-US" dirty="0"/>
          </a:p>
          <a:p>
            <a:pPr algn="ctr">
              <a:defRPr sz="2000" b="1">
                <a:solidFill>
                  <a:srgbClr val="000000"/>
                </a:solidFill>
                <a:latin typeface="맑은 고딕"/>
              </a:defRPr>
            </a:pP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3291840" y="2514603"/>
            <a:ext cx="9144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08960" y="3794763"/>
            <a:ext cx="1280160" cy="457200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rPr dirty="0"/>
              <a:t>Nginx</a:t>
            </a:r>
            <a:br>
              <a:rPr dirty="0"/>
            </a:br>
            <a:r>
              <a:rPr dirty="0"/>
              <a:t>(Proxy)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2514603"/>
            <a:ext cx="1828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0" y="2880363"/>
            <a:ext cx="1828800" cy="365760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Spring Boot</a:t>
            </a:r>
            <a:br/>
            <a:r>
              <a:t>(Backend API)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4343403"/>
            <a:ext cx="1828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60" y="4709163"/>
            <a:ext cx="1828800" cy="365760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rPr dirty="0" err="1"/>
              <a:t>FastAPI</a:t>
            </a:r>
            <a:br>
              <a:rPr dirty="0"/>
            </a:br>
            <a:r>
              <a:rPr dirty="0"/>
              <a:t>(AI Pipeline)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514603"/>
            <a:ext cx="1371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79" y="2880363"/>
            <a:ext cx="1371600" cy="365760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Oracle DB</a:t>
            </a:r>
            <a:br/>
            <a:r>
              <a:t>(XE 21c)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4343403"/>
            <a:ext cx="1371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79" y="4709163"/>
            <a:ext cx="1371600" cy="365760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Redis</a:t>
            </a:r>
            <a:br/>
            <a:r>
              <a:t>(Cache)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4343403"/>
            <a:ext cx="1828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0" y="4691988"/>
            <a:ext cx="1828800" cy="400110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rPr dirty="0"/>
              <a:t>OpenAI API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560320" y="2971803"/>
            <a:ext cx="731520" cy="182880"/>
          </a:xfrm>
          <a:prstGeom prst="rightArrow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ight Arrow 22"/>
          <p:cNvSpPr/>
          <p:nvPr/>
        </p:nvSpPr>
        <p:spPr>
          <a:xfrm>
            <a:off x="2560320" y="4800603"/>
            <a:ext cx="731520" cy="182880"/>
          </a:xfrm>
          <a:prstGeom prst="rightArrow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ight Arrow 23"/>
          <p:cNvSpPr/>
          <p:nvPr/>
        </p:nvSpPr>
        <p:spPr>
          <a:xfrm>
            <a:off x="4206240" y="2971803"/>
            <a:ext cx="731520" cy="182880"/>
          </a:xfrm>
          <a:prstGeom prst="rightArrow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ight Arrow 24"/>
          <p:cNvSpPr/>
          <p:nvPr/>
        </p:nvSpPr>
        <p:spPr>
          <a:xfrm>
            <a:off x="4206240" y="4800603"/>
            <a:ext cx="731520" cy="182880"/>
          </a:xfrm>
          <a:prstGeom prst="rightArrow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Left-Right Arrow 25"/>
          <p:cNvSpPr/>
          <p:nvPr/>
        </p:nvSpPr>
        <p:spPr>
          <a:xfrm>
            <a:off x="6766560" y="2971803"/>
            <a:ext cx="731520" cy="182880"/>
          </a:xfrm>
          <a:prstGeom prst="leftRightArrow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Left-Right Arrow 26"/>
          <p:cNvSpPr/>
          <p:nvPr/>
        </p:nvSpPr>
        <p:spPr>
          <a:xfrm>
            <a:off x="6766560" y="4800603"/>
            <a:ext cx="731520" cy="182880"/>
          </a:xfrm>
          <a:prstGeom prst="leftRightArrow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Left-Right Arrow 27"/>
          <p:cNvSpPr/>
          <p:nvPr/>
        </p:nvSpPr>
        <p:spPr>
          <a:xfrm>
            <a:off x="8869680" y="4800603"/>
            <a:ext cx="731520" cy="182880"/>
          </a:xfrm>
          <a:prstGeom prst="leftRightArrow">
            <a:avLst/>
          </a:prstGeom>
          <a:solidFill>
            <a:srgbClr val="FFFFFF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Up-Down Arrow 28"/>
          <p:cNvSpPr/>
          <p:nvPr/>
        </p:nvSpPr>
        <p:spPr>
          <a:xfrm>
            <a:off x="5760720" y="3520443"/>
            <a:ext cx="182880" cy="914400"/>
          </a:xfrm>
          <a:prstGeom prst="upDownArrow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Up-Down Arrow 29"/>
          <p:cNvSpPr/>
          <p:nvPr/>
        </p:nvSpPr>
        <p:spPr>
          <a:xfrm>
            <a:off x="8092440" y="3520443"/>
            <a:ext cx="182880" cy="914400"/>
          </a:xfrm>
          <a:prstGeom prst="upDownArrow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9C768450-469F-651C-E7E8-0162275CA226}"/>
              </a:ext>
            </a:extLst>
          </p:cNvPr>
          <p:cNvSpPr/>
          <p:nvPr/>
        </p:nvSpPr>
        <p:spPr>
          <a:xfrm>
            <a:off x="579834" y="463674"/>
            <a:ext cx="124435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ko-KR" altLang="en-US" sz="1500" dirty="0">
                <a:solidFill>
                  <a:srgbClr val="3E2513"/>
                </a:solidFill>
                <a:latin typeface="Source Serif 4" pitchFamily="34" charset="0"/>
                <a:cs typeface="Source Serif 4" pitchFamily="34" charset="-120"/>
              </a:rPr>
              <a:t>0</a:t>
            </a:r>
            <a:r>
              <a:rPr lang="en-US" altLang="ko-KR" sz="1500" dirty="0">
                <a:solidFill>
                  <a:srgbClr val="3E2513"/>
                </a:solidFill>
                <a:latin typeface="Source Serif 4" pitchFamily="34" charset="0"/>
                <a:cs typeface="Source Serif 4" pitchFamily="34" charset="-120"/>
              </a:rPr>
              <a:t>2</a:t>
            </a:r>
            <a:r>
              <a:rPr lang="ko-KR" altLang="en-US" sz="1500" dirty="0">
                <a:solidFill>
                  <a:srgbClr val="3E2513"/>
                </a:solidFill>
                <a:latin typeface="Source Serif 4" pitchFamily="34" charset="0"/>
                <a:cs typeface="Source Serif 4" pitchFamily="34" charset="-120"/>
              </a:rPr>
              <a:t> 시스템 아키텍처</a:t>
            </a:r>
            <a:endParaRPr lang="ko-KR" sz="1500" dirty="0"/>
          </a:p>
        </p:txBody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3EAE1F34-D317-5135-5342-DD3933198D82}"/>
              </a:ext>
            </a:extLst>
          </p:cNvPr>
          <p:cNvSpPr/>
          <p:nvPr/>
        </p:nvSpPr>
        <p:spPr>
          <a:xfrm>
            <a:off x="566772" y="752162"/>
            <a:ext cx="656808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000" dirty="0">
                <a:solidFill>
                  <a:srgbClr val="201B18"/>
                </a:solidFill>
                <a:latin typeface="Platypi Medium" pitchFamily="34" charset="0"/>
                <a:cs typeface="Platypi Medium" pitchFamily="34" charset="-120"/>
              </a:rPr>
              <a:t>시스템 아키텍처 구조도</a:t>
            </a:r>
            <a:endParaRPr lang="ko-KR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rgbClr val="F9F7F7"/>
          </a:solidFill>
          <a:ln/>
        </p:spPr>
        <p:txBody>
          <a:bodyPr/>
          <a:lstStyle/>
          <a:p>
            <a:endParaRPr lang="ko-KR" altLang="en-US" sz="24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673" y="119461"/>
            <a:ext cx="4412655" cy="661898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93" y="553640"/>
            <a:ext cx="1110556" cy="283765"/>
          </a:xfrm>
          <a:prstGeom prst="roundRect">
            <a:avLst>
              <a:gd name="adj" fmla="val 6745"/>
            </a:avLst>
          </a:prstGeom>
          <a:noFill/>
          <a:ln/>
          <a:effectLst>
            <a:outerShdw blurRad="101600" dist="50800" dir="16200000" algn="bl" rotWithShape="0">
              <a:srgbClr val="3E2513">
                <a:alpha val="100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Text 2"/>
          <p:cNvSpPr/>
          <p:nvPr/>
        </p:nvSpPr>
        <p:spPr>
          <a:xfrm>
            <a:off x="757139" y="601465"/>
            <a:ext cx="1528861" cy="188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3000"/>
              </a:lnSpc>
            </a:pPr>
            <a:r>
              <a:rPr lang="ko-KR" altLang="en-US" sz="100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 AI 파이프라인</a:t>
            </a:r>
            <a:endParaRPr lang="ko-KR" alt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61492" y="891183"/>
            <a:ext cx="6081712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ko-KR" altLang="en-US" sz="3133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LangGraph Multi-Agent 구조</a:t>
            </a:r>
            <a:endParaRPr lang="ko-KR" altLang="en-US" sz="3133" dirty="0"/>
          </a:p>
        </p:txBody>
      </p:sp>
      <p:sp>
        <p:nvSpPr>
          <p:cNvPr id="7" name="Text 4"/>
          <p:cNvSpPr/>
          <p:nvPr/>
        </p:nvSpPr>
        <p:spPr>
          <a:xfrm>
            <a:off x="661493" y="1591370"/>
            <a:ext cx="6906617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3000"/>
              </a:lnSpc>
            </a:pPr>
            <a:r>
              <a:rPr lang="ko-KR" alt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Router Node가 사용자 의도(Intent)를 분석하여 3개의 전문 에이전트로 분기합니다.</a:t>
            </a:r>
            <a:endParaRPr lang="ko-KR" alt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93" y="1977827"/>
            <a:ext cx="6297017" cy="9219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6185" y="2156321"/>
            <a:ext cx="1993603" cy="249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33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Router Node</a:t>
            </a:r>
            <a:endParaRPr lang="en-US" sz="1533" dirty="0"/>
          </a:p>
        </p:txBody>
      </p:sp>
      <p:sp>
        <p:nvSpPr>
          <p:cNvPr id="10" name="Text 6"/>
          <p:cNvSpPr/>
          <p:nvPr/>
        </p:nvSpPr>
        <p:spPr>
          <a:xfrm>
            <a:off x="916186" y="2486125"/>
            <a:ext cx="5863828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3000"/>
              </a:lnSpc>
            </a:pPr>
            <a:r>
              <a:rPr lang="ko-KR" alt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Intent 분석 + 분기 처리</a:t>
            </a:r>
            <a:endParaRPr lang="ko-KR" alt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93" y="3034309"/>
            <a:ext cx="6297017" cy="9219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6186" y="3212803"/>
            <a:ext cx="2507556" cy="249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33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Info &amp; Recommend Agent</a:t>
            </a:r>
            <a:endParaRPr lang="en-US" sz="1533" dirty="0"/>
          </a:p>
        </p:txBody>
      </p:sp>
      <p:sp>
        <p:nvSpPr>
          <p:cNvPr id="13" name="Text 8"/>
          <p:cNvSpPr/>
          <p:nvPr/>
        </p:nvSpPr>
        <p:spPr>
          <a:xfrm>
            <a:off x="916186" y="3542606"/>
            <a:ext cx="5863828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3000"/>
              </a:lnSpc>
            </a:pPr>
            <a:r>
              <a:rPr lang="ko-KR" alt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메뉴 검색·필터링, 가격/알레르기 안내, 인기 메뉴 추천 — Redis Tier 1 Fast-Path 활용</a:t>
            </a:r>
            <a:endParaRPr lang="ko-KR" alt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93" y="4090790"/>
            <a:ext cx="6297017" cy="9219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6185" y="4269284"/>
            <a:ext cx="1993603" cy="249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33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Context Chat Agent</a:t>
            </a:r>
            <a:endParaRPr lang="en-US" sz="1533" dirty="0"/>
          </a:p>
        </p:txBody>
      </p:sp>
      <p:sp>
        <p:nvSpPr>
          <p:cNvPr id="16" name="Text 10"/>
          <p:cNvSpPr/>
          <p:nvPr/>
        </p:nvSpPr>
        <p:spPr>
          <a:xfrm>
            <a:off x="916186" y="4599087"/>
            <a:ext cx="5863828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3000"/>
              </a:lnSpc>
            </a:pPr>
            <a:r>
              <a:rPr lang="ko-KR" alt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이전 대화 State 참조, 세션 기반 연속적 상태 관리 — Redis Checkpoint 활용</a:t>
            </a:r>
            <a:endParaRPr lang="ko-KR" alt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93" y="5147272"/>
            <a:ext cx="6297017" cy="115708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16186" y="5325765"/>
            <a:ext cx="2235597" cy="249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33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Order Execution Agent</a:t>
            </a:r>
            <a:endParaRPr lang="en-US" sz="1533" dirty="0"/>
          </a:p>
        </p:txBody>
      </p:sp>
      <p:sp>
        <p:nvSpPr>
          <p:cNvPr id="19" name="Text 12"/>
          <p:cNvSpPr/>
          <p:nvPr/>
        </p:nvSpPr>
        <p:spPr>
          <a:xfrm>
            <a:off x="916186" y="5655569"/>
            <a:ext cx="5863828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3000"/>
              </a:lnSpc>
            </a:pPr>
            <a:r>
              <a:rPr lang="ko-KR" alt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Tool Calling → JSON 장바구니 추출, 백엔드 validate API 호출, 품질/가격변동 자동 감지, linkedOrderId 발급 연동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92" y="1098053"/>
            <a:ext cx="1868488" cy="355203"/>
          </a:xfrm>
          <a:prstGeom prst="roundRect">
            <a:avLst>
              <a:gd name="adj" fmla="val 6386"/>
            </a:avLst>
          </a:prstGeom>
          <a:noFill/>
          <a:ln/>
          <a:effectLst>
            <a:outerShdw blurRad="101600" dist="50800" dir="16200000" algn="bl" rotWithShape="0">
              <a:srgbClr val="3E2513">
                <a:alpha val="100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 1"/>
          <p:cNvSpPr/>
          <p:nvPr/>
        </p:nvSpPr>
        <p:spPr>
          <a:xfrm>
            <a:off x="774900" y="1154709"/>
            <a:ext cx="2251273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133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 LANGGRAPH STATE</a:t>
            </a:r>
            <a:endParaRPr lang="en-US" sz="1133" dirty="0"/>
          </a:p>
        </p:txBody>
      </p:sp>
      <p:sp>
        <p:nvSpPr>
          <p:cNvPr id="4" name="Text 2"/>
          <p:cNvSpPr/>
          <p:nvPr/>
        </p:nvSpPr>
        <p:spPr>
          <a:xfrm>
            <a:off x="661493" y="1528862"/>
            <a:ext cx="6527007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ko-KR" altLang="en-US" sz="3667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LangGraph State 흐름 상세</a:t>
            </a:r>
            <a:endParaRPr lang="ko-KR" altLang="en-US" sz="3667" dirty="0"/>
          </a:p>
        </p:txBody>
      </p:sp>
      <p:sp>
        <p:nvSpPr>
          <p:cNvPr id="5" name="Text 3"/>
          <p:cNvSpPr/>
          <p:nvPr/>
        </p:nvSpPr>
        <p:spPr>
          <a:xfrm>
            <a:off x="661492" y="2591991"/>
            <a:ext cx="29722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ko-KR" altLang="en-US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State 구조</a:t>
            </a:r>
            <a:endParaRPr lang="ko-KR" altLang="en-US" dirty="0"/>
          </a:p>
        </p:txBody>
      </p:sp>
      <p:sp>
        <p:nvSpPr>
          <p:cNvPr id="6" name="Text 4"/>
          <p:cNvSpPr/>
          <p:nvPr/>
        </p:nvSpPr>
        <p:spPr>
          <a:xfrm>
            <a:off x="661493" y="3076278"/>
            <a:ext cx="5203924" cy="2144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8019" indent="-298019">
              <a:lnSpc>
                <a:spcPct val="133000"/>
              </a:lnSpc>
              <a:buSzPct val="100000"/>
              <a:buChar char="•"/>
            </a:pPr>
            <a:r>
              <a:rPr lang="ko-KR" altLang="en-US" sz="1467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messages</a:t>
            </a:r>
            <a:r>
              <a:rPr lang="ko-KR" altLang="en-US" sz="1467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: 대화 이력 (Human/AI)</a:t>
            </a:r>
            <a:endParaRPr lang="ko-KR" altLang="en-US" sz="1467" dirty="0"/>
          </a:p>
          <a:p>
            <a:pPr marL="298019" indent="-298019">
              <a:lnSpc>
                <a:spcPct val="133000"/>
              </a:lnSpc>
              <a:buSzPct val="100000"/>
              <a:buChar char="•"/>
            </a:pPr>
            <a:r>
              <a:rPr lang="ko-KR" altLang="en-US" sz="1467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store_id</a:t>
            </a:r>
            <a:r>
              <a:rPr lang="ko-KR" altLang="en-US" sz="1467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: 현재 매장 매칭 ID</a:t>
            </a:r>
            <a:endParaRPr lang="ko-KR" altLang="en-US" sz="1467" dirty="0"/>
          </a:p>
          <a:p>
            <a:pPr marL="298019" indent="-298019">
              <a:lnSpc>
                <a:spcPct val="133000"/>
              </a:lnSpc>
              <a:buSzPct val="100000"/>
              <a:buChar char="•"/>
            </a:pPr>
            <a:r>
              <a:rPr lang="ko-KR" altLang="en-US" sz="1467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session_id</a:t>
            </a:r>
            <a:r>
              <a:rPr lang="ko-KR" altLang="en-US" sz="1467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: 대화 세션 식별자</a:t>
            </a:r>
            <a:endParaRPr lang="ko-KR" altLang="en-US" sz="1467" dirty="0"/>
          </a:p>
          <a:p>
            <a:pPr marL="298019" indent="-298019">
              <a:lnSpc>
                <a:spcPct val="133000"/>
              </a:lnSpc>
              <a:buSzPct val="100000"/>
              <a:buChar char="•"/>
            </a:pPr>
            <a:r>
              <a:rPr lang="ko-KR" altLang="en-US" sz="1467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routing_no</a:t>
            </a:r>
            <a:r>
              <a:rPr lang="ko-KR" altLang="en-US" sz="1467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: 작업 상태</a:t>
            </a:r>
            <a:endParaRPr lang="ko-KR" altLang="en-US" sz="1467" dirty="0"/>
          </a:p>
          <a:p>
            <a:pPr marL="298019" indent="-298019">
              <a:lnSpc>
                <a:spcPct val="133000"/>
              </a:lnSpc>
              <a:buSzPct val="100000"/>
              <a:buChar char="•"/>
            </a:pPr>
            <a:r>
              <a:rPr lang="ko-KR" altLang="en-US" sz="1467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cart_items</a:t>
            </a:r>
            <a:r>
              <a:rPr lang="ko-KR" altLang="en-US" sz="1467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: 장바구니 아이템 목록</a:t>
            </a:r>
            <a:endParaRPr lang="ko-KR" altLang="en-US" sz="1467" dirty="0"/>
          </a:p>
          <a:p>
            <a:pPr marL="298019" indent="-298019">
              <a:lnSpc>
                <a:spcPct val="133000"/>
              </a:lnSpc>
              <a:buSzPct val="100000"/>
              <a:buChar char="•"/>
            </a:pPr>
            <a:r>
              <a:rPr lang="ko-KR" altLang="en-US" sz="1467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user_context</a:t>
            </a:r>
            <a:r>
              <a:rPr lang="ko-KR" altLang="en-US" sz="1467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: 사용자 컨텍스트 (선택도 등)</a:t>
            </a:r>
            <a:endParaRPr lang="ko-KR" alt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6332935" y="2591991"/>
            <a:ext cx="29722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ko-KR" altLang="en-US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상태 영속화 전략</a:t>
            </a:r>
            <a:endParaRPr lang="ko-KR" altLang="en-US" dirty="0"/>
          </a:p>
        </p:txBody>
      </p:sp>
      <p:sp>
        <p:nvSpPr>
          <p:cNvPr id="8" name="Text 6"/>
          <p:cNvSpPr/>
          <p:nvPr/>
        </p:nvSpPr>
        <p:spPr>
          <a:xfrm>
            <a:off x="6332935" y="3076278"/>
            <a:ext cx="5203924" cy="261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8019" indent="-298019">
              <a:lnSpc>
                <a:spcPct val="133000"/>
              </a:lnSpc>
              <a:buSzPct val="100000"/>
              <a:buChar char="•"/>
            </a:pPr>
            <a:r>
              <a:rPr lang="ko-KR" altLang="en-US" sz="1467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Redis Checkpoint</a:t>
            </a:r>
            <a:r>
              <a:rPr lang="ko-KR" altLang="en-US" sz="1467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: langgraph-checkpoint-redis로 세션 State 저장, TTL(EXPIRE) 관리</a:t>
            </a:r>
            <a:endParaRPr lang="ko-KR" altLang="en-US" sz="1467" dirty="0"/>
          </a:p>
          <a:p>
            <a:pPr marL="298019" indent="-298019">
              <a:lnSpc>
                <a:spcPct val="133000"/>
              </a:lnSpc>
              <a:buSzPct val="100000"/>
              <a:buChar char="•"/>
            </a:pPr>
            <a:r>
              <a:rPr lang="ko-KR" altLang="en-US" sz="1467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백그라운드 처리</a:t>
            </a:r>
            <a:r>
              <a:rPr lang="ko-KR" altLang="en-US" sz="1467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: FastAPI BackgroundTasks로 DB 로그 INSERT를 응답 반환 후 처리</a:t>
            </a:r>
            <a:endParaRPr lang="ko-KR" altLang="en-US" sz="1467" dirty="0"/>
          </a:p>
          <a:p>
            <a:pPr marL="298019" indent="-298019">
              <a:lnSpc>
                <a:spcPct val="133000"/>
              </a:lnSpc>
              <a:buSzPct val="100000"/>
              <a:buChar char="•"/>
            </a:pPr>
            <a:r>
              <a:rPr lang="ko-KR" altLang="en-US" sz="1467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개인화 주의</a:t>
            </a:r>
            <a:r>
              <a:rPr lang="ko-KR" altLang="en-US" sz="1467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: session_id 참조 시 Redis에서 알레르기 정보 참조</a:t>
            </a:r>
            <a:endParaRPr lang="ko-KR" altLang="en-US" sz="1467" dirty="0"/>
          </a:p>
          <a:p>
            <a:pPr marL="298019" indent="-298019">
              <a:lnSpc>
                <a:spcPct val="133000"/>
              </a:lnSpc>
              <a:buSzPct val="100000"/>
              <a:buChar char="•"/>
            </a:pPr>
            <a:r>
              <a:rPr lang="ko-KR" altLang="en-US" sz="1467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세션 복원</a:t>
            </a:r>
            <a:r>
              <a:rPr lang="ko-KR" altLang="en-US" sz="1467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: Python 컨테이너 재시작 후에도 동일 session_id로 대화 맥락 완전 복원</a:t>
            </a:r>
            <a:endParaRPr lang="ko-KR" altLang="en-US" sz="1467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47BD357-3BFC-973B-D086-28C56E9478D3}"/>
              </a:ext>
            </a:extLst>
          </p:cNvPr>
          <p:cNvSpPr/>
          <p:nvPr/>
        </p:nvSpPr>
        <p:spPr>
          <a:xfrm>
            <a:off x="10705011" y="6387737"/>
            <a:ext cx="1473925" cy="47026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ED67AFF1-B1B2-F95E-67AD-D9BDBC616D41}"/>
              </a:ext>
            </a:extLst>
          </p:cNvPr>
          <p:cNvSpPr/>
          <p:nvPr/>
        </p:nvSpPr>
        <p:spPr>
          <a:xfrm>
            <a:off x="10705011" y="6387737"/>
            <a:ext cx="1473925" cy="47026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2" name="Shape 0"/>
          <p:cNvSpPr/>
          <p:nvPr/>
        </p:nvSpPr>
        <p:spPr>
          <a:xfrm>
            <a:off x="661493" y="539651"/>
            <a:ext cx="1014412" cy="355203"/>
          </a:xfrm>
          <a:prstGeom prst="roundRect">
            <a:avLst>
              <a:gd name="adj" fmla="val 6386"/>
            </a:avLst>
          </a:prstGeom>
          <a:noFill/>
          <a:ln/>
          <a:effectLst>
            <a:outerShdw blurRad="101600" dist="50800" dir="16200000" algn="bl" rotWithShape="0">
              <a:srgbClr val="3E2513">
                <a:alpha val="100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 1"/>
          <p:cNvSpPr/>
          <p:nvPr/>
        </p:nvSpPr>
        <p:spPr>
          <a:xfrm>
            <a:off x="774899" y="596306"/>
            <a:ext cx="1397199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ko-KR" altLang="en-US" sz="1133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 캐싱 전략</a:t>
            </a:r>
            <a:endParaRPr lang="ko-KR" altLang="en-US" sz="1133" dirty="0"/>
          </a:p>
        </p:txBody>
      </p:sp>
      <p:sp>
        <p:nvSpPr>
          <p:cNvPr id="4" name="Text 2"/>
          <p:cNvSpPr/>
          <p:nvPr/>
        </p:nvSpPr>
        <p:spPr>
          <a:xfrm>
            <a:off x="661493" y="970460"/>
            <a:ext cx="5378351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ko-KR" altLang="en-US" sz="3667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2-Tier Redis 캐싱 전략</a:t>
            </a:r>
            <a:endParaRPr lang="ko-KR" altLang="en-US" sz="3667" dirty="0"/>
          </a:p>
        </p:txBody>
      </p:sp>
      <p:sp>
        <p:nvSpPr>
          <p:cNvPr id="5" name="Text 3"/>
          <p:cNvSpPr/>
          <p:nvPr/>
        </p:nvSpPr>
        <p:spPr>
          <a:xfrm>
            <a:off x="661493" y="1844576"/>
            <a:ext cx="1147861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ko-KR" altLang="en-US" sz="1467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유동적 데이터와 고정적 데이터를 분리하여 최적의 응답 속도와 데이터 정합성을 확보합니다.</a:t>
            </a:r>
            <a:endParaRPr lang="ko-KR" altLang="en-US" sz="1467" dirty="0"/>
          </a:p>
        </p:txBody>
      </p:sp>
      <p:sp>
        <p:nvSpPr>
          <p:cNvPr id="6" name="Shape 4"/>
          <p:cNvSpPr/>
          <p:nvPr/>
        </p:nvSpPr>
        <p:spPr>
          <a:xfrm>
            <a:off x="525363" y="2359620"/>
            <a:ext cx="5476180" cy="3958629"/>
          </a:xfrm>
          <a:prstGeom prst="roundRect">
            <a:avLst>
              <a:gd name="adj" fmla="val 716"/>
            </a:avLst>
          </a:prstGeom>
          <a:solidFill>
            <a:srgbClr val="3E2513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Text 5"/>
          <p:cNvSpPr/>
          <p:nvPr/>
        </p:nvSpPr>
        <p:spPr>
          <a:xfrm>
            <a:off x="714375" y="2548632"/>
            <a:ext cx="448091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Tier 1 — Master Cache (Fast-Path)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14375" y="3032920"/>
            <a:ext cx="5707757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ko-KR" altLang="en-US" sz="1467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키 패턴: </a:t>
            </a:r>
            <a:r>
              <a:rPr lang="ko-KR" altLang="en-US" sz="1467" dirty="0">
                <a:solidFill>
                  <a:srgbClr val="FFFFFF"/>
                </a:solidFill>
                <a:highlight>
                  <a:srgbClr val="4B3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menu:{store_id}:{menu_id}</a:t>
            </a:r>
            <a:endParaRPr lang="ko-KR" altLang="en-US" sz="1467" dirty="0"/>
          </a:p>
        </p:txBody>
      </p:sp>
      <p:sp>
        <p:nvSpPr>
          <p:cNvPr id="9" name="Text 7"/>
          <p:cNvSpPr/>
          <p:nvPr/>
        </p:nvSpPr>
        <p:spPr>
          <a:xfrm>
            <a:off x="714375" y="3511748"/>
            <a:ext cx="5098157" cy="1407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8019" indent="-298019">
              <a:lnSpc>
                <a:spcPct val="133000"/>
              </a:lnSpc>
              <a:buSzPct val="100000"/>
              <a:buChar char="•"/>
            </a:pPr>
            <a:r>
              <a:rPr lang="ko-KR" altLang="en-US" sz="1467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메뉴명, 현재/할인 가격, 재고 상태</a:t>
            </a:r>
            <a:endParaRPr lang="ko-KR" altLang="en-US" sz="1467" dirty="0"/>
          </a:p>
          <a:p>
            <a:pPr marL="298019" indent="-298019">
              <a:lnSpc>
                <a:spcPct val="133000"/>
              </a:lnSpc>
              <a:buSzPct val="100000"/>
              <a:buChar char="•"/>
            </a:pPr>
            <a:r>
              <a:rPr lang="ko-KR" altLang="en-US" sz="1467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이벤트 정보</a:t>
            </a:r>
            <a:endParaRPr lang="ko-KR" altLang="en-US" sz="1467" dirty="0"/>
          </a:p>
          <a:p>
            <a:pPr marL="298019" indent="-298019">
              <a:lnSpc>
                <a:spcPct val="133000"/>
              </a:lnSpc>
              <a:buSzPct val="100000"/>
              <a:buChar char="•"/>
            </a:pPr>
            <a:r>
              <a:rPr lang="ko-KR" altLang="en-US" sz="1467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DB 없이 즉답 (&lt; 5ms)</a:t>
            </a:r>
            <a:endParaRPr lang="ko-KR" altLang="en-US" sz="1467" dirty="0"/>
          </a:p>
          <a:p>
            <a:pPr marL="298019" indent="-298019">
              <a:lnSpc>
                <a:spcPct val="133000"/>
              </a:lnSpc>
              <a:buSzPct val="100000"/>
              <a:buChar char="•"/>
            </a:pPr>
            <a:r>
              <a:rPr lang="ko-KR" altLang="en-US" sz="1467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점주 수정 시 즉시 DELETE</a:t>
            </a:r>
            <a:endParaRPr lang="ko-KR" altLang="en-US" sz="1467" dirty="0"/>
          </a:p>
        </p:txBody>
      </p:sp>
      <p:sp>
        <p:nvSpPr>
          <p:cNvPr id="10" name="Text 8"/>
          <p:cNvSpPr/>
          <p:nvPr/>
        </p:nvSpPr>
        <p:spPr>
          <a:xfrm>
            <a:off x="6332936" y="2548632"/>
            <a:ext cx="47333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Tier 2 — AI Meta-Cache (Deep-Path)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32935" y="3032920"/>
            <a:ext cx="5813524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ko-KR" altLang="en-US" sz="1467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키 패턴: </a:t>
            </a:r>
            <a:r>
              <a:rPr lang="ko-KR" altLang="en-US" sz="1467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ai:meta:{store_id}</a:t>
            </a:r>
            <a:endParaRPr lang="ko-KR" altLang="en-US" sz="1467" dirty="0"/>
          </a:p>
        </p:txBody>
      </p:sp>
      <p:sp>
        <p:nvSpPr>
          <p:cNvPr id="12" name="Text 10"/>
          <p:cNvSpPr/>
          <p:nvPr/>
        </p:nvSpPr>
        <p:spPr>
          <a:xfrm>
            <a:off x="6332935" y="3511748"/>
            <a:ext cx="520392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8019" indent="-298019">
              <a:lnSpc>
                <a:spcPct val="133000"/>
              </a:lnSpc>
              <a:buSzPct val="100000"/>
              <a:buChar char="•"/>
            </a:pPr>
            <a:r>
              <a:rPr lang="ko-KR" altLang="en-US" sz="1467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알레르기, 맵기, 해시태그, 카테고리</a:t>
            </a:r>
            <a:endParaRPr lang="ko-KR" altLang="en-US" sz="1467" dirty="0"/>
          </a:p>
          <a:p>
            <a:pPr marL="298019" indent="-298019">
              <a:lnSpc>
                <a:spcPct val="133000"/>
              </a:lnSpc>
              <a:buSzPct val="100000"/>
              <a:buChar char="•"/>
            </a:pPr>
            <a:r>
              <a:rPr lang="ko-KR" altLang="en-US" sz="1467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AI 추천 / 필터링 연산용</a:t>
            </a:r>
            <a:endParaRPr lang="ko-KR" altLang="en-US" sz="1467" dirty="0"/>
          </a:p>
          <a:p>
            <a:pPr marL="298019" indent="-298019">
              <a:lnSpc>
                <a:spcPct val="133000"/>
              </a:lnSpc>
              <a:buSzPct val="100000"/>
              <a:buChar char="•"/>
            </a:pPr>
            <a:r>
              <a:rPr lang="ko-KR" altLang="en-US" sz="1467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벡터 이벤트 재생성 트리거 시 갱신</a:t>
            </a:r>
            <a:endParaRPr lang="ko-KR" altLang="en-US" sz="1467" dirty="0"/>
          </a:p>
        </p:txBody>
      </p:sp>
      <p:sp>
        <p:nvSpPr>
          <p:cNvPr id="13" name="Shape 11"/>
          <p:cNvSpPr/>
          <p:nvPr/>
        </p:nvSpPr>
        <p:spPr>
          <a:xfrm>
            <a:off x="6332935" y="4763789"/>
            <a:ext cx="5203924" cy="1341835"/>
          </a:xfrm>
          <a:prstGeom prst="roundRect">
            <a:avLst>
              <a:gd name="adj" fmla="val 2113"/>
            </a:avLst>
          </a:prstGeom>
          <a:solidFill>
            <a:srgbClr val="F3E3D8"/>
          </a:solidFill>
          <a:ln/>
        </p:spPr>
        <p:txBody>
          <a:bodyPr/>
          <a:lstStyle/>
          <a:p>
            <a:endParaRPr lang="ko-KR" altLang="en-US" sz="240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947" y="5050533"/>
            <a:ext cx="236240" cy="18901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947198" y="4981079"/>
            <a:ext cx="440064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ko-KR" altLang="en-US" sz="1467" b="1" dirty="0">
                <a:solidFill>
                  <a:srgbClr val="000000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Cache-Aside 전략</a:t>
            </a:r>
            <a:r>
              <a:rPr lang="ko-KR" altLang="en-US" sz="1467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: 점주 메뉴 수정 시 Redis 키 즉시 DELETE → 다음 요청 시 DB 재로딩 → 품질 메뉴 추천 사고 원천 차단</a:t>
            </a:r>
            <a:endParaRPr lang="ko-KR" altLang="en-US" sz="146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6B8DC-1CAA-98D6-FA3A-534C0C9C6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B46BA76-D73A-EE01-9A94-217AD386C618}"/>
              </a:ext>
            </a:extLst>
          </p:cNvPr>
          <p:cNvSpPr/>
          <p:nvPr/>
        </p:nvSpPr>
        <p:spPr>
          <a:xfrm>
            <a:off x="661493" y="539751"/>
            <a:ext cx="1629767" cy="250229"/>
          </a:xfrm>
          <a:prstGeom prst="roundRect">
            <a:avLst>
              <a:gd name="adj" fmla="val 6940"/>
            </a:avLst>
          </a:prstGeom>
          <a:noFill/>
          <a:ln/>
          <a:effectLst>
            <a:outerShdw blurRad="101600" dist="50800" dir="16200000" algn="bl" rotWithShape="0">
              <a:srgbClr val="3E2513">
                <a:alpha val="100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08A0973-B744-C2AE-A8AA-8515FC743B0C}"/>
              </a:ext>
            </a:extLst>
          </p:cNvPr>
          <p:cNvSpPr/>
          <p:nvPr/>
        </p:nvSpPr>
        <p:spPr>
          <a:xfrm>
            <a:off x="748309" y="583108"/>
            <a:ext cx="2065735" cy="163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ko-KR" altLang="en-US" sz="867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04–05 데이터 분리 &amp; 가드레일</a:t>
            </a:r>
            <a:endParaRPr lang="ko-KR" altLang="en-US" sz="867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8716ED8-0A91-A7C4-88BD-2F01422DB23B}"/>
              </a:ext>
            </a:extLst>
          </p:cNvPr>
          <p:cNvSpPr/>
          <p:nvPr/>
        </p:nvSpPr>
        <p:spPr>
          <a:xfrm>
            <a:off x="661492" y="834231"/>
            <a:ext cx="8797131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ko-KR" altLang="en-US" sz="28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벡터 DB </a:t>
            </a:r>
            <a:r>
              <a:rPr lang="ko-KR" altLang="en-US" sz="2800" dirty="0" err="1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vs</a:t>
            </a:r>
            <a:r>
              <a:rPr lang="ko-KR" altLang="en-US" sz="28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</a:t>
            </a:r>
            <a:r>
              <a:rPr lang="ko-KR" altLang="en-US" sz="2800" dirty="0" err="1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Redis</a:t>
            </a:r>
            <a:r>
              <a:rPr lang="ko-KR" altLang="en-US" sz="28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분리 + </a:t>
            </a:r>
            <a:r>
              <a:rPr lang="ko-KR" altLang="en-US" sz="2800" dirty="0" err="1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Neuro-Symbolic</a:t>
            </a:r>
            <a:r>
              <a:rPr lang="ko-KR" altLang="en-US" sz="28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가드레일</a:t>
            </a:r>
            <a:endParaRPr lang="ko-KR" altLang="en-US" sz="2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FA56971-F84B-1899-CBE1-128367EA212B}"/>
              </a:ext>
            </a:extLst>
          </p:cNvPr>
          <p:cNvSpPr/>
          <p:nvPr/>
        </p:nvSpPr>
        <p:spPr>
          <a:xfrm>
            <a:off x="661493" y="2651721"/>
            <a:ext cx="5867599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ko-KR" altLang="en-US" sz="1200" dirty="0">
                <a:solidFill>
                  <a:srgbClr val="201B18"/>
                </a:solidFill>
                <a:latin typeface="+mj-ea"/>
                <a:cs typeface="Platypi Medium" pitchFamily="34" charset="-120"/>
              </a:rPr>
              <a:t>데이터 안정성을 위해 </a:t>
            </a:r>
            <a:r>
              <a:rPr lang="en-US" altLang="ko-KR" sz="1200" dirty="0">
                <a:solidFill>
                  <a:srgbClr val="201B18"/>
                </a:solidFill>
                <a:latin typeface="+mj-ea"/>
                <a:cs typeface="Platypi Medium" pitchFamily="34" charset="-120"/>
              </a:rPr>
              <a:t>AI</a:t>
            </a:r>
            <a:r>
              <a:rPr lang="ko-KR" altLang="en-US" sz="1200" dirty="0">
                <a:solidFill>
                  <a:srgbClr val="201B18"/>
                </a:solidFill>
                <a:latin typeface="+mj-ea"/>
                <a:cs typeface="Platypi Medium" pitchFamily="34" charset="-120"/>
              </a:rPr>
              <a:t>에서 </a:t>
            </a:r>
            <a:r>
              <a:rPr lang="en-US" altLang="ko-KR" sz="1200" dirty="0">
                <a:solidFill>
                  <a:srgbClr val="201B18"/>
                </a:solidFill>
                <a:latin typeface="+mj-ea"/>
                <a:cs typeface="Platypi Medium" pitchFamily="34" charset="-120"/>
              </a:rPr>
              <a:t>API</a:t>
            </a:r>
            <a:r>
              <a:rPr lang="ko-KR" altLang="en-US" sz="1200" dirty="0">
                <a:solidFill>
                  <a:srgbClr val="201B18"/>
                </a:solidFill>
                <a:latin typeface="+mj-ea"/>
                <a:cs typeface="Platypi Medium" pitchFamily="34" charset="-120"/>
              </a:rPr>
              <a:t>를 통해 검증 후</a:t>
            </a:r>
            <a:endParaRPr lang="en-US" altLang="ko-KR" sz="1200" dirty="0">
              <a:solidFill>
                <a:srgbClr val="201B18"/>
              </a:solidFill>
              <a:latin typeface="+mj-ea"/>
              <a:cs typeface="Platypi Medium" pitchFamily="34" charset="-120"/>
            </a:endParaRPr>
          </a:p>
          <a:p>
            <a:pPr>
              <a:lnSpc>
                <a:spcPct val="104000"/>
              </a:lnSpc>
            </a:pPr>
            <a:r>
              <a:rPr lang="ko-KR" altLang="en-US" sz="1200" dirty="0">
                <a:latin typeface="+mj-ea"/>
              </a:rPr>
              <a:t>음식주문</a:t>
            </a:r>
            <a:r>
              <a:rPr lang="en-US" altLang="ko-KR" sz="1200" dirty="0">
                <a:latin typeface="+mj-ea"/>
              </a:rPr>
              <a:t>, </a:t>
            </a:r>
            <a:r>
              <a:rPr lang="ko-KR" altLang="en-US" sz="1200" dirty="0">
                <a:latin typeface="+mj-ea"/>
              </a:rPr>
              <a:t>결제까지 이어지도록 동작</a:t>
            </a:r>
            <a:endParaRPr lang="en-US" altLang="ko-KR" sz="1200" dirty="0">
              <a:latin typeface="+mj-ea"/>
            </a:endParaRPr>
          </a:p>
          <a:p>
            <a:pPr>
              <a:lnSpc>
                <a:spcPct val="104000"/>
              </a:lnSpc>
            </a:pPr>
            <a:r>
              <a:rPr lang="en-US" altLang="ko-KR" sz="1200" dirty="0">
                <a:latin typeface="+mj-ea"/>
              </a:rPr>
              <a:t>AI</a:t>
            </a:r>
            <a:r>
              <a:rPr lang="ko-KR" altLang="en-US" sz="1200" dirty="0">
                <a:latin typeface="+mj-ea"/>
              </a:rPr>
              <a:t>가 자율적으로 </a:t>
            </a:r>
            <a:r>
              <a:rPr lang="ko-KR" altLang="en-US" sz="1200" dirty="0" err="1">
                <a:latin typeface="+mj-ea"/>
              </a:rPr>
              <a:t>검증하는것이</a:t>
            </a:r>
            <a:r>
              <a:rPr lang="ko-KR" altLang="en-US" sz="1200" dirty="0">
                <a:latin typeface="+mj-ea"/>
              </a:rPr>
              <a:t> </a:t>
            </a:r>
            <a:endParaRPr lang="en-US" altLang="ko-KR" sz="1200" dirty="0">
              <a:latin typeface="+mj-ea"/>
            </a:endParaRPr>
          </a:p>
          <a:p>
            <a:pPr>
              <a:lnSpc>
                <a:spcPct val="104000"/>
              </a:lnSpc>
            </a:pPr>
            <a:r>
              <a:rPr lang="ko-KR" altLang="en-US" sz="1200" dirty="0">
                <a:latin typeface="+mj-ea"/>
              </a:rPr>
              <a:t>아닌 검증 규칙을 적용해</a:t>
            </a:r>
            <a:endParaRPr lang="en-US" altLang="ko-KR" sz="1200" dirty="0">
              <a:latin typeface="+mj-ea"/>
            </a:endParaRPr>
          </a:p>
          <a:p>
            <a:pPr>
              <a:lnSpc>
                <a:spcPct val="104000"/>
              </a:lnSpc>
            </a:pPr>
            <a:r>
              <a:rPr lang="ko-KR" altLang="en-US" sz="1200" dirty="0">
                <a:latin typeface="+mj-ea"/>
              </a:rPr>
              <a:t>데이터 안정성 확보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8634E7D-D148-A8F8-D771-ECBEB6C81F88}"/>
              </a:ext>
            </a:extLst>
          </p:cNvPr>
          <p:cNvSpPr/>
          <p:nvPr/>
        </p:nvSpPr>
        <p:spPr>
          <a:xfrm>
            <a:off x="6278860" y="1563390"/>
            <a:ext cx="310703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ko-KR" altLang="en-US" sz="1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Neuro-Symbolic 가드레일 흐름</a:t>
            </a:r>
            <a:endParaRPr lang="ko-KR" alt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6CAB6FA-756E-3019-16E3-FBDAC3358FE2}"/>
              </a:ext>
            </a:extLst>
          </p:cNvPr>
          <p:cNvSpPr/>
          <p:nvPr/>
        </p:nvSpPr>
        <p:spPr>
          <a:xfrm>
            <a:off x="6278860" y="1914030"/>
            <a:ext cx="289421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33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01</a:t>
            </a:r>
            <a:endParaRPr lang="en-US" sz="1133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6B49633-EB17-685B-CBAC-7C43765B2FC8}"/>
              </a:ext>
            </a:extLst>
          </p:cNvPr>
          <p:cNvSpPr/>
          <p:nvPr/>
        </p:nvSpPr>
        <p:spPr>
          <a:xfrm>
            <a:off x="6278861" y="2140843"/>
            <a:ext cx="5257999" cy="19051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9A1C8B9-7C73-DEB1-2C2A-2F412BF7DC64}"/>
              </a:ext>
            </a:extLst>
          </p:cNvPr>
          <p:cNvSpPr/>
          <p:nvPr/>
        </p:nvSpPr>
        <p:spPr>
          <a:xfrm>
            <a:off x="6278861" y="2251274"/>
            <a:ext cx="180895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ko-KR" alt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고객 발화</a:t>
            </a:r>
            <a:endParaRPr lang="ko-KR" altLang="en-US" sz="1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51E46D9-5F41-DC33-0307-C04D72E0677E}"/>
              </a:ext>
            </a:extLst>
          </p:cNvPr>
          <p:cNvSpPr/>
          <p:nvPr/>
        </p:nvSpPr>
        <p:spPr>
          <a:xfrm>
            <a:off x="6278861" y="2588022"/>
            <a:ext cx="5257999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ko-KR" altLang="en-US" sz="1133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"아메리카노 2개 주문할게"</a:t>
            </a:r>
            <a:endParaRPr lang="ko-KR" altLang="en-US" sz="1133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74F022F-32E2-3E8E-CA27-510193086559}"/>
              </a:ext>
            </a:extLst>
          </p:cNvPr>
          <p:cNvSpPr/>
          <p:nvPr/>
        </p:nvSpPr>
        <p:spPr>
          <a:xfrm>
            <a:off x="6278860" y="3011587"/>
            <a:ext cx="289421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33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02</a:t>
            </a:r>
            <a:endParaRPr lang="en-US" sz="1133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871F34B-E314-C1AB-D11C-89065A72CDE5}"/>
              </a:ext>
            </a:extLst>
          </p:cNvPr>
          <p:cNvSpPr/>
          <p:nvPr/>
        </p:nvSpPr>
        <p:spPr>
          <a:xfrm>
            <a:off x="6278861" y="3238401"/>
            <a:ext cx="5257999" cy="19051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B44E19D-68BB-FE9F-B8BB-93656513535B}"/>
              </a:ext>
            </a:extLst>
          </p:cNvPr>
          <p:cNvSpPr/>
          <p:nvPr/>
        </p:nvSpPr>
        <p:spPr>
          <a:xfrm>
            <a:off x="6278861" y="3348831"/>
            <a:ext cx="180895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ko-KR" alt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AI 분석</a:t>
            </a:r>
            <a:endParaRPr lang="ko-KR" altLang="en-US" sz="1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FE04DC0-554F-CD9F-8517-AE2ADA09B21F}"/>
              </a:ext>
            </a:extLst>
          </p:cNvPr>
          <p:cNvSpPr/>
          <p:nvPr/>
        </p:nvSpPr>
        <p:spPr>
          <a:xfrm>
            <a:off x="6278861" y="3685581"/>
            <a:ext cx="5257999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ko-KR" altLang="en-US" sz="1133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Order Agent가 JSON 장바구니 추출</a:t>
            </a:r>
            <a:endParaRPr lang="ko-KR" altLang="en-US" sz="1133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FA0C265-74EA-DF44-3632-79323B5EAE6D}"/>
              </a:ext>
            </a:extLst>
          </p:cNvPr>
          <p:cNvSpPr/>
          <p:nvPr/>
        </p:nvSpPr>
        <p:spPr>
          <a:xfrm>
            <a:off x="6278860" y="4109145"/>
            <a:ext cx="289421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33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03</a:t>
            </a:r>
            <a:endParaRPr lang="en-US" sz="1133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63AFA1C-938B-71BF-4611-5C3F0441D789}"/>
              </a:ext>
            </a:extLst>
          </p:cNvPr>
          <p:cNvSpPr/>
          <p:nvPr/>
        </p:nvSpPr>
        <p:spPr>
          <a:xfrm>
            <a:off x="6278861" y="4335959"/>
            <a:ext cx="5257999" cy="19051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428EF17-68FD-12AF-A078-9C39820E3627}"/>
              </a:ext>
            </a:extLst>
          </p:cNvPr>
          <p:cNvSpPr/>
          <p:nvPr/>
        </p:nvSpPr>
        <p:spPr>
          <a:xfrm>
            <a:off x="6278861" y="4446390"/>
            <a:ext cx="180895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ko-KR" alt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규칙 검증</a:t>
            </a:r>
            <a:endParaRPr lang="ko-KR" altLang="en-US" sz="14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376AE0C-C1CC-94A0-82FF-A1298760A1F2}"/>
              </a:ext>
            </a:extLst>
          </p:cNvPr>
          <p:cNvSpPr/>
          <p:nvPr/>
        </p:nvSpPr>
        <p:spPr>
          <a:xfrm>
            <a:off x="6278861" y="4783138"/>
            <a:ext cx="5257999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ko-KR" altLang="en-US" sz="1133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Backend validate — 재고/가격 교차 검증</a:t>
            </a:r>
            <a:endParaRPr lang="ko-KR" altLang="en-US" sz="1133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4487B71-4351-DA6B-BD60-C212D61DF045}"/>
              </a:ext>
            </a:extLst>
          </p:cNvPr>
          <p:cNvSpPr/>
          <p:nvPr/>
        </p:nvSpPr>
        <p:spPr>
          <a:xfrm>
            <a:off x="6278860" y="5206703"/>
            <a:ext cx="289421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33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04</a:t>
            </a:r>
            <a:endParaRPr lang="en-US" sz="1133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55538F68-5E84-EAC5-4E50-3C7AAEFAD02C}"/>
              </a:ext>
            </a:extLst>
          </p:cNvPr>
          <p:cNvSpPr/>
          <p:nvPr/>
        </p:nvSpPr>
        <p:spPr>
          <a:xfrm>
            <a:off x="6278861" y="5433516"/>
            <a:ext cx="5257999" cy="19051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5E81C6B-B14F-B852-BC96-1AAC4C2BC54C}"/>
              </a:ext>
            </a:extLst>
          </p:cNvPr>
          <p:cNvSpPr/>
          <p:nvPr/>
        </p:nvSpPr>
        <p:spPr>
          <a:xfrm>
            <a:off x="6278861" y="5543947"/>
            <a:ext cx="180895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ko-KR" alt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결과 분기</a:t>
            </a:r>
            <a:endParaRPr lang="ko-KR" altLang="en-US" sz="14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C217B86-8FB1-CA1A-6409-A279A76AB76C}"/>
              </a:ext>
            </a:extLst>
          </p:cNvPr>
          <p:cNvSpPr/>
          <p:nvPr/>
        </p:nvSpPr>
        <p:spPr>
          <a:xfrm>
            <a:off x="6278861" y="5880695"/>
            <a:ext cx="5257999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ko-KR" altLang="en-US" sz="1133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통과 → 주문 확인 / 실패 → AI 자연어 안내</a:t>
            </a:r>
            <a:endParaRPr lang="ko-KR" altLang="en-US" sz="1133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6CC8E1F-D89F-60B6-E4DC-37912C03730D}"/>
              </a:ext>
            </a:extLst>
          </p:cNvPr>
          <p:cNvSpPr/>
          <p:nvPr/>
        </p:nvSpPr>
        <p:spPr>
          <a:xfrm>
            <a:off x="10705011" y="6387737"/>
            <a:ext cx="1473925" cy="47026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57916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rgbClr val="F9F7F7"/>
          </a:solidFill>
          <a:ln/>
        </p:spPr>
        <p:txBody>
          <a:bodyPr/>
          <a:lstStyle/>
          <a:p>
            <a:endParaRPr lang="ko-KR" altLang="en-US" sz="2400">
              <a:latin typeface="+mj-ea"/>
              <a:ea typeface="+mj-ea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603" y="132854"/>
            <a:ext cx="4394795" cy="659219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93" y="575965"/>
            <a:ext cx="1081385" cy="325835"/>
          </a:xfrm>
          <a:prstGeom prst="roundRect">
            <a:avLst>
              <a:gd name="adj" fmla="val 6526"/>
            </a:avLst>
          </a:prstGeom>
          <a:noFill/>
          <a:ln/>
          <a:effectLst>
            <a:outerShdw blurRad="101600" dist="50800" dir="16200000" algn="bl" rotWithShape="0">
              <a:srgbClr val="3E2513">
                <a:alpha val="100000"/>
              </a:srgbClr>
            </a:outerShdw>
          </a:effectLst>
        </p:spPr>
        <p:txBody>
          <a:bodyPr/>
          <a:lstStyle/>
          <a:p>
            <a:endParaRPr lang="ko-KR" altLang="en-US" sz="2400">
              <a:latin typeface="+mj-ea"/>
              <a:ea typeface="+mj-ea"/>
            </a:endParaRPr>
          </a:p>
        </p:txBody>
      </p:sp>
      <p:sp>
        <p:nvSpPr>
          <p:cNvPr id="5" name="Text 2"/>
          <p:cNvSpPr/>
          <p:nvPr/>
        </p:nvSpPr>
        <p:spPr>
          <a:xfrm>
            <a:off x="767755" y="629047"/>
            <a:ext cx="1478459" cy="219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9000"/>
              </a:lnSpc>
            </a:pPr>
            <a:r>
              <a:rPr lang="ko-KR" altLang="en-US" sz="1067" dirty="0">
                <a:solidFill>
                  <a:srgbClr val="3E2513"/>
                </a:solidFill>
                <a:latin typeface="+mj-ea"/>
                <a:ea typeface="+mj-ea"/>
                <a:cs typeface="Source Serif 4" pitchFamily="34" charset="-120"/>
              </a:rPr>
              <a:t>06 전환율 추적</a:t>
            </a:r>
            <a:endParaRPr lang="ko-KR" altLang="en-US" sz="1067" dirty="0">
              <a:latin typeface="+mj-ea"/>
              <a:ea typeface="+mj-ea"/>
            </a:endParaRPr>
          </a:p>
        </p:txBody>
      </p:sp>
      <p:sp>
        <p:nvSpPr>
          <p:cNvPr id="6" name="Text 3"/>
          <p:cNvSpPr/>
          <p:nvPr/>
        </p:nvSpPr>
        <p:spPr>
          <a:xfrm>
            <a:off x="661493" y="968176"/>
            <a:ext cx="7326444" cy="110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ko-KR" altLang="en-US" sz="3200" dirty="0">
                <a:solidFill>
                  <a:srgbClr val="201B18"/>
                </a:solidFill>
                <a:latin typeface="+mj-ea"/>
                <a:ea typeface="+mj-ea"/>
                <a:cs typeface="Platypi Medium" pitchFamily="34" charset="-120"/>
              </a:rPr>
              <a:t>AI 대화 로그 기반 결제 전환율 추적</a:t>
            </a:r>
            <a:endParaRPr lang="ko-KR" altLang="en-US" sz="3200" dirty="0">
              <a:latin typeface="+mj-ea"/>
              <a:ea typeface="+mj-ea"/>
            </a:endParaRPr>
          </a:p>
        </p:txBody>
      </p:sp>
      <p:sp>
        <p:nvSpPr>
          <p:cNvPr id="7" name="Text 4"/>
          <p:cNvSpPr/>
          <p:nvPr/>
        </p:nvSpPr>
        <p:spPr>
          <a:xfrm>
            <a:off x="661492" y="2413397"/>
            <a:ext cx="3044627" cy="584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</a:pPr>
            <a:r>
              <a:rPr lang="en-US" sz="4600" dirty="0">
                <a:solidFill>
                  <a:srgbClr val="504C49"/>
                </a:solidFill>
                <a:latin typeface="+mj-ea"/>
                <a:ea typeface="+mj-ea"/>
                <a:cs typeface="Platypi Medium" pitchFamily="34" charset="-120"/>
              </a:rPr>
              <a:t>156</a:t>
            </a:r>
            <a:endParaRPr lang="en-US" sz="4600" dirty="0">
              <a:latin typeface="+mj-ea"/>
              <a:ea typeface="+mj-ea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76225" y="3211315"/>
            <a:ext cx="221505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ko-KR" altLang="en-US" sz="1733" dirty="0">
                <a:solidFill>
                  <a:srgbClr val="504C49"/>
                </a:solidFill>
                <a:latin typeface="+mj-ea"/>
                <a:ea typeface="+mj-ea"/>
                <a:cs typeface="Platypi Medium" pitchFamily="34" charset="-120"/>
              </a:rPr>
              <a:t>총 대화 세션</a:t>
            </a:r>
            <a:endParaRPr lang="ko-KR" altLang="en-US" sz="1733" dirty="0">
              <a:latin typeface="+mj-ea"/>
              <a:ea typeface="+mj-ea"/>
            </a:endParaRPr>
          </a:p>
        </p:txBody>
      </p:sp>
      <p:sp>
        <p:nvSpPr>
          <p:cNvPr id="9" name="Text 6"/>
          <p:cNvSpPr/>
          <p:nvPr/>
        </p:nvSpPr>
        <p:spPr>
          <a:xfrm>
            <a:off x="3913783" y="2413397"/>
            <a:ext cx="3044725" cy="584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</a:pPr>
            <a:r>
              <a:rPr lang="en-US" sz="4600" dirty="0">
                <a:solidFill>
                  <a:srgbClr val="504C49"/>
                </a:solidFill>
                <a:latin typeface="+mj-ea"/>
                <a:ea typeface="+mj-ea"/>
                <a:cs typeface="Platypi Medium" pitchFamily="34" charset="-120"/>
              </a:rPr>
              <a:t>53</a:t>
            </a:r>
            <a:endParaRPr lang="en-US" sz="4600" dirty="0">
              <a:latin typeface="+mj-ea"/>
              <a:ea typeface="+mj-ea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328616" y="3211315"/>
            <a:ext cx="221505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ko-KR" altLang="en-US" sz="1733" dirty="0">
                <a:solidFill>
                  <a:srgbClr val="504C49"/>
                </a:solidFill>
                <a:latin typeface="+mj-ea"/>
                <a:ea typeface="+mj-ea"/>
                <a:cs typeface="Platypi Medium" pitchFamily="34" charset="-120"/>
              </a:rPr>
              <a:t>결제 완료 세션</a:t>
            </a:r>
            <a:endParaRPr lang="ko-KR" altLang="en-US" sz="1733" dirty="0">
              <a:latin typeface="+mj-ea"/>
              <a:ea typeface="+mj-ea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287588" y="3909020"/>
            <a:ext cx="3044725" cy="584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</a:pPr>
            <a:r>
              <a:rPr lang="en-US" sz="4600" dirty="0">
                <a:solidFill>
                  <a:srgbClr val="504C49"/>
                </a:solidFill>
                <a:latin typeface="+mj-ea"/>
                <a:ea typeface="+mj-ea"/>
                <a:cs typeface="Platypi Medium" pitchFamily="34" charset="-120"/>
              </a:rPr>
              <a:t>34%</a:t>
            </a:r>
            <a:endParaRPr lang="en-US" sz="4600" dirty="0">
              <a:latin typeface="+mj-ea"/>
              <a:ea typeface="+mj-ea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702421" y="4706937"/>
            <a:ext cx="221505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ko-KR" altLang="en-US" sz="1733" dirty="0">
                <a:solidFill>
                  <a:srgbClr val="504C49"/>
                </a:solidFill>
                <a:latin typeface="+mj-ea"/>
                <a:ea typeface="+mj-ea"/>
                <a:cs typeface="Platypi Medium" pitchFamily="34" charset="-120"/>
              </a:rPr>
              <a:t>주문 전환율</a:t>
            </a:r>
            <a:endParaRPr lang="ko-KR" altLang="en-US" sz="1733" dirty="0">
              <a:latin typeface="+mj-ea"/>
              <a:ea typeface="+mj-ea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61493" y="5170685"/>
            <a:ext cx="6297017" cy="1111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9000"/>
              </a:lnSpc>
            </a:pPr>
            <a:r>
              <a:rPr lang="ko-KR" altLang="en-US" sz="1333" dirty="0">
                <a:solidFill>
                  <a:srgbClr val="504C49"/>
                </a:solidFill>
                <a:highlight>
                  <a:srgbClr val="F2F2F2"/>
                </a:highlight>
                <a:latin typeface="+mj-ea"/>
                <a:ea typeface="+mj-ea"/>
                <a:cs typeface="Consolas" pitchFamily="34" charset="-120"/>
              </a:rPr>
              <a:t>store_ai_logs.linked_order_id</a:t>
            </a:r>
            <a:r>
              <a:rPr lang="ko-KR" altLang="en-US" sz="1333" dirty="0">
                <a:solidFill>
                  <a:srgbClr val="504C49"/>
                </a:solidFill>
                <a:latin typeface="+mj-ea"/>
                <a:ea typeface="+mj-ea"/>
                <a:cs typeface="Source Serif 4" pitchFamily="34" charset="-120"/>
              </a:rPr>
              <a:t>로 AI 세션과 Order를 연결, 프론트엔드에서 세션별 그룹핑 통계 계산 (</a:t>
            </a:r>
            <a:r>
              <a:rPr lang="ko-KR" altLang="en-US" sz="1333" dirty="0">
                <a:solidFill>
                  <a:srgbClr val="504C49"/>
                </a:solidFill>
                <a:highlight>
                  <a:srgbClr val="F2F2F2"/>
                </a:highlight>
                <a:latin typeface="+mj-ea"/>
                <a:ea typeface="+mj-ea"/>
                <a:cs typeface="Consolas" pitchFamily="34" charset="-120"/>
              </a:rPr>
              <a:t>uniqueSessions</a:t>
            </a:r>
            <a:r>
              <a:rPr lang="ko-KR" altLang="en-US" sz="1333" dirty="0">
                <a:solidFill>
                  <a:srgbClr val="504C49"/>
                </a:solidFill>
                <a:latin typeface="+mj-ea"/>
                <a:ea typeface="+mj-ea"/>
                <a:cs typeface="Source Serif 4" pitchFamily="34" charset="-120"/>
              </a:rPr>
              <a:t> vs </a:t>
            </a:r>
            <a:r>
              <a:rPr lang="ko-KR" altLang="en-US" sz="1333" dirty="0">
                <a:solidFill>
                  <a:srgbClr val="504C49"/>
                </a:solidFill>
                <a:highlight>
                  <a:srgbClr val="F2F2F2"/>
                </a:highlight>
                <a:latin typeface="+mj-ea"/>
                <a:ea typeface="+mj-ea"/>
                <a:cs typeface="Consolas" pitchFamily="34" charset="-120"/>
              </a:rPr>
              <a:t>orderedSessions</a:t>
            </a:r>
            <a:r>
              <a:rPr lang="ko-KR" altLang="en-US" sz="1333" dirty="0">
                <a:solidFill>
                  <a:srgbClr val="504C49"/>
                </a:solidFill>
                <a:latin typeface="+mj-ea"/>
                <a:ea typeface="+mj-ea"/>
                <a:cs typeface="Source Serif 4" pitchFamily="34" charset="-120"/>
              </a:rPr>
              <a:t> 비율). '결제 완료 대화만 보기' 필터 토글로 AI 추천 효과 측정, 매장별 AI 전환율 비교로 프롬프트 튜닝 A/B 테스트 근거 확보 및 고객 행동 패턴 파악 가능.</a:t>
            </a:r>
            <a:endParaRPr lang="ko-KR" altLang="en-US" sz="1333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kiosk_customer_ui_17829037395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5029200" cy="502920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6858000" y="1828800"/>
            <a:ext cx="4572000" cy="3657600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rPr dirty="0" err="1"/>
              <a:t>고객</a:t>
            </a:r>
            <a:r>
              <a:rPr dirty="0"/>
              <a:t> </a:t>
            </a:r>
            <a:r>
              <a:rPr dirty="0" err="1"/>
              <a:t>주문</a:t>
            </a:r>
            <a:r>
              <a:rPr dirty="0"/>
              <a:t> </a:t>
            </a:r>
            <a:r>
              <a:rPr dirty="0" err="1"/>
              <a:t>화면</a:t>
            </a:r>
            <a:r>
              <a:rPr dirty="0"/>
              <a:t> </a:t>
            </a:r>
            <a:r>
              <a:rPr dirty="0" err="1"/>
              <a:t>특징</a:t>
            </a: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세로</a:t>
            </a:r>
            <a:r>
              <a:rPr dirty="0"/>
              <a:t> </a:t>
            </a:r>
            <a:r>
              <a:rPr dirty="0" err="1"/>
              <a:t>고정</a:t>
            </a:r>
            <a:r>
              <a:rPr dirty="0"/>
              <a:t> </a:t>
            </a:r>
            <a:r>
              <a:rPr dirty="0" err="1"/>
              <a:t>레이아웃</a:t>
            </a:r>
            <a:r>
              <a:rPr dirty="0"/>
              <a:t> (1080×1920)</a:t>
            </a:r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카테고리</a:t>
            </a:r>
            <a:r>
              <a:rPr dirty="0"/>
              <a:t> </a:t>
            </a:r>
            <a:r>
              <a:rPr dirty="0" err="1"/>
              <a:t>사이드바</a:t>
            </a:r>
            <a:r>
              <a:rPr dirty="0"/>
              <a:t> + </a:t>
            </a:r>
            <a:r>
              <a:rPr dirty="0" err="1"/>
              <a:t>메뉴</a:t>
            </a:r>
            <a:r>
              <a:rPr dirty="0"/>
              <a:t> </a:t>
            </a:r>
            <a:r>
              <a:rPr dirty="0" err="1"/>
              <a:t>그리드</a:t>
            </a: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하단</a:t>
            </a:r>
            <a:r>
              <a:rPr dirty="0"/>
              <a:t> </a:t>
            </a:r>
            <a:r>
              <a:rPr dirty="0" err="1"/>
              <a:t>플로팅</a:t>
            </a:r>
            <a:r>
              <a:rPr dirty="0"/>
              <a:t> </a:t>
            </a:r>
            <a:r>
              <a:rPr dirty="0" err="1"/>
              <a:t>장바구니</a:t>
            </a:r>
            <a:r>
              <a:rPr dirty="0"/>
              <a:t> 바</a:t>
            </a:r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rPr dirty="0"/>
              <a:t>• AI </a:t>
            </a:r>
            <a:r>
              <a:rPr dirty="0" err="1"/>
              <a:t>채팅</a:t>
            </a:r>
            <a:r>
              <a:rPr dirty="0"/>
              <a:t> </a:t>
            </a:r>
            <a:r>
              <a:rPr dirty="0" err="1"/>
              <a:t>버블</a:t>
            </a:r>
            <a:r>
              <a:rPr dirty="0"/>
              <a:t> </a:t>
            </a:r>
            <a:r>
              <a:rPr dirty="0" err="1"/>
              <a:t>아이콘</a:t>
            </a: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endParaRPr dirty="0"/>
          </a:p>
          <a:p>
            <a:pPr>
              <a:spcAft>
                <a:spcPts val="800"/>
              </a:spcAft>
              <a:defRPr sz="2000" b="1">
                <a:solidFill>
                  <a:srgbClr val="059669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터치</a:t>
            </a:r>
            <a:r>
              <a:rPr dirty="0"/>
              <a:t> + AI </a:t>
            </a:r>
            <a:r>
              <a:rPr dirty="0" err="1"/>
              <a:t>하이브리드</a:t>
            </a:r>
            <a:r>
              <a:rPr dirty="0"/>
              <a:t> </a:t>
            </a:r>
            <a:r>
              <a:rPr dirty="0" err="1"/>
              <a:t>주문</a:t>
            </a: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rPr dirty="0"/>
              <a:t>• 60초 </a:t>
            </a:r>
            <a:r>
              <a:rPr dirty="0" err="1"/>
              <a:t>무입력</a:t>
            </a:r>
            <a:r>
              <a:rPr dirty="0"/>
              <a:t> 시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리셋</a:t>
            </a: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서버</a:t>
            </a:r>
            <a:r>
              <a:rPr dirty="0"/>
              <a:t> </a:t>
            </a:r>
            <a:r>
              <a:rPr dirty="0" err="1"/>
              <a:t>장애</a:t>
            </a:r>
            <a:r>
              <a:rPr dirty="0"/>
              <a:t> 시 </a:t>
            </a:r>
            <a:r>
              <a:rPr dirty="0" err="1"/>
              <a:t>상단</a:t>
            </a:r>
            <a:r>
              <a:rPr dirty="0"/>
              <a:t> </a:t>
            </a:r>
            <a:r>
              <a:rPr dirty="0" err="1"/>
              <a:t>배너</a:t>
            </a:r>
            <a:r>
              <a:rPr dirty="0"/>
              <a:t> </a:t>
            </a:r>
            <a:r>
              <a:rPr dirty="0" err="1"/>
              <a:t>안내</a:t>
            </a: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핸드폰</a:t>
            </a:r>
            <a:r>
              <a:rPr dirty="0"/>
              <a:t> </a:t>
            </a:r>
            <a:r>
              <a:rPr dirty="0" err="1"/>
              <a:t>번호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→ </a:t>
            </a:r>
            <a:r>
              <a:rPr dirty="0" err="1"/>
              <a:t>단골</a:t>
            </a:r>
            <a:r>
              <a:rPr dirty="0"/>
              <a:t> </a:t>
            </a:r>
            <a:r>
              <a:rPr dirty="0" err="1"/>
              <a:t>맞춤</a:t>
            </a:r>
            <a:r>
              <a:rPr dirty="0"/>
              <a:t> AI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8C9EC99-0430-C886-82F1-A97800FE5FF6}"/>
              </a:ext>
            </a:extLst>
          </p:cNvPr>
          <p:cNvSpPr/>
          <p:nvPr/>
        </p:nvSpPr>
        <p:spPr>
          <a:xfrm>
            <a:off x="774899" y="348112"/>
            <a:ext cx="1397199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altLang="ko-KR" sz="1133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07. UI</a:t>
            </a:r>
            <a:endParaRPr lang="ko-KR" altLang="en-US" sz="1133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F11DADBE-E468-AED8-98DD-04EA79777E83}"/>
              </a:ext>
            </a:extLst>
          </p:cNvPr>
          <p:cNvSpPr/>
          <p:nvPr/>
        </p:nvSpPr>
        <p:spPr>
          <a:xfrm>
            <a:off x="661493" y="722266"/>
            <a:ext cx="5378351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ko-KR" altLang="en-US" sz="3200" dirty="0"/>
              <a:t>고객 키오스크 화면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i_chat_interface_17829037728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5029200" cy="502920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6858000" y="1480415"/>
            <a:ext cx="4572000" cy="4811574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rPr dirty="0"/>
              <a:t>AI </a:t>
            </a:r>
            <a:r>
              <a:rPr dirty="0" err="1"/>
              <a:t>대화</a:t>
            </a:r>
            <a:r>
              <a:rPr dirty="0"/>
              <a:t> </a:t>
            </a:r>
            <a:r>
              <a:rPr dirty="0" err="1"/>
              <a:t>인터페이스</a:t>
            </a:r>
            <a:r>
              <a:rPr dirty="0"/>
              <a:t> </a:t>
            </a:r>
            <a:r>
              <a:rPr dirty="0" err="1"/>
              <a:t>특징</a:t>
            </a: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rPr dirty="0"/>
              <a:t>• SSE </a:t>
            </a:r>
            <a:r>
              <a:rPr dirty="0" err="1"/>
              <a:t>스트리밍</a:t>
            </a:r>
            <a:r>
              <a:rPr dirty="0"/>
              <a:t>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응답</a:t>
            </a:r>
            <a:r>
              <a:rPr dirty="0"/>
              <a:t> </a:t>
            </a:r>
            <a:r>
              <a:rPr dirty="0" err="1"/>
              <a:t>렌더링</a:t>
            </a: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고객</a:t>
            </a:r>
            <a:r>
              <a:rPr dirty="0"/>
              <a:t> </a:t>
            </a:r>
            <a:r>
              <a:rPr dirty="0" err="1"/>
              <a:t>메시지</a:t>
            </a:r>
            <a:r>
              <a:rPr dirty="0"/>
              <a:t> (</a:t>
            </a:r>
            <a:r>
              <a:rPr dirty="0" err="1"/>
              <a:t>우측</a:t>
            </a:r>
            <a:r>
              <a:rPr dirty="0"/>
              <a:t>) / AI </a:t>
            </a:r>
            <a:r>
              <a:rPr dirty="0" err="1"/>
              <a:t>응답</a:t>
            </a:r>
            <a:r>
              <a:rPr dirty="0"/>
              <a:t> (</a:t>
            </a:r>
            <a:r>
              <a:rPr dirty="0" err="1"/>
              <a:t>좌측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마이크</a:t>
            </a:r>
            <a:r>
              <a:rPr dirty="0"/>
              <a:t> </a:t>
            </a:r>
            <a:r>
              <a:rPr dirty="0" err="1"/>
              <a:t>아이콘</a:t>
            </a:r>
            <a:r>
              <a:rPr dirty="0"/>
              <a:t> → </a:t>
            </a:r>
            <a:r>
              <a:rPr dirty="0" err="1"/>
              <a:t>음성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(Web Speech)</a:t>
            </a:r>
            <a:endParaRPr lang="en-US" dirty="0"/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endParaRPr lang="en-US" dirty="0"/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endParaRPr lang="en-US" dirty="0"/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endParaRPr lang="en-US" dirty="0"/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endParaRPr lang="en-US" dirty="0"/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endParaRPr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DEBF9A57-3EB6-3E12-1B66-26BCF1CEE94C}"/>
              </a:ext>
            </a:extLst>
          </p:cNvPr>
          <p:cNvSpPr/>
          <p:nvPr/>
        </p:nvSpPr>
        <p:spPr>
          <a:xfrm>
            <a:off x="774899" y="348112"/>
            <a:ext cx="1397199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altLang="ko-KR" sz="1133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07. UI</a:t>
            </a:r>
            <a:endParaRPr lang="ko-KR" altLang="en-US" sz="1133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4121C9BF-609D-2C16-F144-0F1DFF4F351B}"/>
              </a:ext>
            </a:extLst>
          </p:cNvPr>
          <p:cNvSpPr/>
          <p:nvPr/>
        </p:nvSpPr>
        <p:spPr>
          <a:xfrm>
            <a:off x="661493" y="722266"/>
            <a:ext cx="5378351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altLang="ko-KR" sz="3200" dirty="0"/>
              <a:t>AI </a:t>
            </a:r>
            <a:r>
              <a:rPr lang="ko-KR" altLang="en-US" sz="3200" dirty="0"/>
              <a:t>대화 인터페이스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tore_admin_dashboard_17829037577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4114800" cy="4114800"/>
          </a:xfrm>
          <a:prstGeom prst="rect">
            <a:avLst/>
          </a:prstGeom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CFB907-981D-7F0E-ECBC-BA6179150C73}"/>
              </a:ext>
            </a:extLst>
          </p:cNvPr>
          <p:cNvSpPr txBox="1"/>
          <p:nvPr/>
        </p:nvSpPr>
        <p:spPr>
          <a:xfrm>
            <a:off x="6858000" y="1480415"/>
            <a:ext cx="4572000" cy="4811574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rPr lang="en-US" dirty="0"/>
              <a:t>AI </a:t>
            </a:r>
            <a:r>
              <a:rPr lang="ko-KR" altLang="en-US" dirty="0"/>
              <a:t>대화 기록 </a:t>
            </a:r>
            <a:r>
              <a:rPr dirty="0" err="1"/>
              <a:t>특징</a:t>
            </a: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rPr dirty="0"/>
              <a:t>• </a:t>
            </a:r>
            <a:r>
              <a:rPr lang="en-US" dirty="0"/>
              <a:t>AI </a:t>
            </a:r>
            <a:r>
              <a:rPr lang="ko-KR" altLang="en-US" dirty="0"/>
              <a:t>대화 기록 확인</a:t>
            </a: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rPr dirty="0"/>
              <a:t>•</a:t>
            </a:r>
            <a:r>
              <a:rPr lang="en-US" dirty="0"/>
              <a:t> AI </a:t>
            </a:r>
            <a:r>
              <a:rPr lang="ko-KR" altLang="en-US" dirty="0"/>
              <a:t>대화를 통해 결제로 이어진 대화 확인</a:t>
            </a: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endParaRPr lang="en-US" dirty="0"/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endParaRPr lang="en-US" dirty="0"/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endParaRPr lang="en-US" dirty="0"/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endParaRPr lang="en-US" dirty="0"/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endParaRPr lang="en-US" dirty="0"/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endParaRPr lang="en-US" dirty="0"/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endParaRPr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218F81DF-C1BD-0438-1EB0-76F455878933}"/>
              </a:ext>
            </a:extLst>
          </p:cNvPr>
          <p:cNvSpPr/>
          <p:nvPr/>
        </p:nvSpPr>
        <p:spPr>
          <a:xfrm>
            <a:off x="774899" y="348112"/>
            <a:ext cx="1397199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altLang="ko-KR" sz="1133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07. UI</a:t>
            </a:r>
            <a:endParaRPr lang="ko-KR" altLang="en-US" sz="1133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010078E2-EAEE-67F5-CE28-D8F6D6452D01}"/>
              </a:ext>
            </a:extLst>
          </p:cNvPr>
          <p:cNvSpPr/>
          <p:nvPr/>
        </p:nvSpPr>
        <p:spPr>
          <a:xfrm>
            <a:off x="661493" y="722266"/>
            <a:ext cx="5378351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altLang="ko-KR" sz="3200" dirty="0"/>
              <a:t>AI </a:t>
            </a:r>
            <a:r>
              <a:rPr lang="ko-KR" altLang="en-US" sz="3200" dirty="0"/>
              <a:t>대화 기록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93" y="1551683"/>
            <a:ext cx="969863" cy="355203"/>
          </a:xfrm>
          <a:prstGeom prst="roundRect">
            <a:avLst>
              <a:gd name="adj" fmla="val 6386"/>
            </a:avLst>
          </a:prstGeom>
          <a:solidFill>
            <a:srgbClr val="F3E3D8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4900" y="1608337"/>
            <a:ext cx="1352649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ko-KR" altLang="en-US" sz="1133" dirty="0">
                <a:solidFill>
                  <a:srgbClr val="504C49"/>
                </a:solidFill>
                <a:latin typeface="+mj-ea"/>
                <a:ea typeface="+mj-ea"/>
                <a:cs typeface="Source Serif 4" pitchFamily="34" charset="-120"/>
              </a:rPr>
              <a:t>시행착오 ①</a:t>
            </a:r>
            <a:endParaRPr lang="ko-KR" altLang="en-US" sz="1133" dirty="0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1492" y="1982490"/>
            <a:ext cx="7038677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ko-KR" altLang="en-US" sz="3667" dirty="0">
                <a:solidFill>
                  <a:srgbClr val="201B18"/>
                </a:solidFill>
                <a:latin typeface="+mj-ea"/>
                <a:ea typeface="+mj-ea"/>
                <a:cs typeface="Platypi Medium" pitchFamily="34" charset="-120"/>
              </a:rPr>
              <a:t>LangGraph 멀티턴 라우팅 문제</a:t>
            </a:r>
            <a:endParaRPr lang="ko-KR" altLang="en-US" sz="3667" dirty="0">
              <a:latin typeface="+mj-ea"/>
              <a:ea typeface="+mj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25363" y="2856607"/>
            <a:ext cx="5476180" cy="2449711"/>
          </a:xfrm>
          <a:prstGeom prst="roundRect">
            <a:avLst>
              <a:gd name="adj" fmla="val 1157"/>
            </a:avLst>
          </a:prstGeom>
          <a:solidFill>
            <a:srgbClr val="3E2513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714375" y="3045619"/>
            <a:ext cx="29722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ko-KR" altLang="en-US" dirty="0">
                <a:solidFill>
                  <a:srgbClr val="FFFFFF"/>
                </a:solidFill>
                <a:latin typeface="+mj-ea"/>
                <a:ea typeface="+mj-ea"/>
                <a:cs typeface="Platypi Medium" pitchFamily="34" charset="-120"/>
              </a:rPr>
              <a:t>문제 상황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714375" y="3529905"/>
            <a:ext cx="5098157" cy="137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ko-KR" altLang="en-US" sz="1467" dirty="0">
                <a:solidFill>
                  <a:srgbClr val="FFFFFF"/>
                </a:solidFill>
                <a:latin typeface="+mj-ea"/>
                <a:ea typeface="+mj-ea"/>
                <a:cs typeface="Source Serif 4" pitchFamily="34" charset="-120"/>
              </a:rPr>
              <a:t>이전 대화를 LangGraph에 모두 포함하면서 </a:t>
            </a:r>
            <a:r>
              <a:rPr lang="ko-KR" altLang="en-US" sz="1467" b="1" dirty="0">
                <a:solidFill>
                  <a:srgbClr val="FFFFFF"/>
                </a:solidFill>
                <a:latin typeface="+mj-ea"/>
                <a:ea typeface="+mj-ea"/>
                <a:cs typeface="Source Serif 4 Bold" pitchFamily="34" charset="-120"/>
              </a:rPr>
              <a:t>의도가 바뀌어도 이전 컨텍스트에 묶여 같은 동작이 반복</a:t>
            </a:r>
            <a:r>
              <a:rPr lang="ko-KR" altLang="en-US" sz="1467" dirty="0">
                <a:solidFill>
                  <a:srgbClr val="FFFFFF"/>
                </a:solidFill>
                <a:latin typeface="+mj-ea"/>
                <a:ea typeface="+mj-ea"/>
                <a:cs typeface="Source Serif 4" pitchFamily="34" charset="-120"/>
              </a:rPr>
              <a:t>되는 현상 발생.</a:t>
            </a:r>
            <a:endParaRPr lang="ko-KR" altLang="en-US" sz="1467" dirty="0">
              <a:latin typeface="+mj-ea"/>
              <a:ea typeface="+mj-ea"/>
            </a:endParaRPr>
          </a:p>
          <a:p>
            <a:pPr>
              <a:lnSpc>
                <a:spcPct val="133000"/>
              </a:lnSpc>
            </a:pPr>
            <a:r>
              <a:rPr lang="ko-KR" altLang="en-US" sz="1467" dirty="0">
                <a:solidFill>
                  <a:srgbClr val="FFFFFF"/>
                </a:solidFill>
                <a:latin typeface="+mj-ea"/>
                <a:ea typeface="+mj-ea"/>
                <a:cs typeface="Source Serif 4" pitchFamily="34" charset="-120"/>
              </a:rPr>
              <a:t>예: "추천해줘" 후 "주문할게"라고 해도 여전히 Info Agent로 라우팅됨</a:t>
            </a:r>
            <a:endParaRPr lang="ko-KR" altLang="en-US" sz="1467" dirty="0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6332935" y="3045619"/>
            <a:ext cx="29722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ko-KR" altLang="en-US" dirty="0">
                <a:solidFill>
                  <a:srgbClr val="201B18"/>
                </a:solidFill>
                <a:latin typeface="+mj-ea"/>
                <a:ea typeface="+mj-ea"/>
                <a:cs typeface="Platypi Medium" pitchFamily="34" charset="-120"/>
              </a:rPr>
              <a:t>해결 방법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6332935" y="3529906"/>
            <a:ext cx="5203924" cy="1710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8019" indent="-298019">
              <a:lnSpc>
                <a:spcPct val="133000"/>
              </a:lnSpc>
              <a:buSzPct val="100000"/>
              <a:buChar char="•"/>
            </a:pPr>
            <a:r>
              <a:rPr lang="ko-KR" altLang="en-US" sz="1467" dirty="0">
                <a:solidFill>
                  <a:srgbClr val="504C49"/>
                </a:solidFill>
                <a:latin typeface="+mj-ea"/>
                <a:ea typeface="+mj-ea"/>
                <a:cs typeface="Source Serif 4" pitchFamily="34" charset="-120"/>
              </a:rPr>
              <a:t>Router Node에서 </a:t>
            </a:r>
            <a:r>
              <a:rPr lang="ko-KR" altLang="en-US" sz="1467" b="1" dirty="0">
                <a:solidFill>
                  <a:srgbClr val="504C49"/>
                </a:solidFill>
                <a:latin typeface="+mj-ea"/>
                <a:ea typeface="+mj-ea"/>
                <a:cs typeface="Source Serif 4 Bold" pitchFamily="34" charset="-120"/>
              </a:rPr>
              <a:t>'현재 입력 문장'에 더 높은 가중치</a:t>
            </a:r>
            <a:r>
              <a:rPr lang="ko-KR" altLang="en-US" sz="1467" dirty="0">
                <a:solidFill>
                  <a:srgbClr val="504C49"/>
                </a:solidFill>
                <a:latin typeface="+mj-ea"/>
                <a:ea typeface="+mj-ea"/>
                <a:cs typeface="Source Serif 4" pitchFamily="34" charset="-120"/>
              </a:rPr>
              <a:t>를 부여하도록 프롬프트 재설계</a:t>
            </a:r>
            <a:endParaRPr lang="ko-KR" altLang="en-US" sz="1467" dirty="0">
              <a:latin typeface="+mj-ea"/>
              <a:ea typeface="+mj-ea"/>
            </a:endParaRPr>
          </a:p>
          <a:p>
            <a:pPr marL="298019" indent="-298019">
              <a:lnSpc>
                <a:spcPct val="133000"/>
              </a:lnSpc>
              <a:buSzPct val="100000"/>
              <a:buChar char="•"/>
            </a:pPr>
            <a:r>
              <a:rPr lang="ko-KR" altLang="en-US" sz="1467" dirty="0">
                <a:solidFill>
                  <a:srgbClr val="504C49"/>
                </a:solidFill>
                <a:latin typeface="+mj-ea"/>
                <a:ea typeface="+mj-ea"/>
                <a:cs typeface="Source Serif 4" pitchFamily="34" charset="-120"/>
              </a:rPr>
              <a:t>시스템 프롬프트에 명시적 라우팅 규칙 추가</a:t>
            </a:r>
            <a:endParaRPr lang="ko-KR" altLang="en-US" sz="1467" dirty="0">
              <a:latin typeface="+mj-ea"/>
              <a:ea typeface="+mj-ea"/>
            </a:endParaRPr>
          </a:p>
          <a:p>
            <a:pPr marL="298019" indent="-298019">
              <a:lnSpc>
                <a:spcPct val="133000"/>
              </a:lnSpc>
              <a:buSzPct val="100000"/>
              <a:buChar char="•"/>
            </a:pPr>
            <a:r>
              <a:rPr lang="ko-KR" altLang="en-US" sz="1467" dirty="0">
                <a:solidFill>
                  <a:srgbClr val="504C49"/>
                </a:solidFill>
                <a:latin typeface="+mj-ea"/>
                <a:ea typeface="+mj-ea"/>
                <a:cs typeface="Source Serif 4" pitchFamily="34" charset="-120"/>
              </a:rPr>
              <a:t>"현재 메시지의 의도를 최우선으로 판단" 명시</a:t>
            </a:r>
            <a:endParaRPr lang="ko-KR" altLang="en-US" sz="1467" dirty="0">
              <a:latin typeface="+mj-ea"/>
              <a:ea typeface="+mj-ea"/>
            </a:endParaRPr>
          </a:p>
          <a:p>
            <a:pPr marL="298019" indent="-298019">
              <a:lnSpc>
                <a:spcPct val="133000"/>
              </a:lnSpc>
              <a:buSzPct val="100000"/>
              <a:buChar char="•"/>
            </a:pPr>
            <a:r>
              <a:rPr lang="ko-KR" altLang="en-US" sz="1467" dirty="0">
                <a:solidFill>
                  <a:srgbClr val="504C49"/>
                </a:solidFill>
                <a:latin typeface="+mj-ea"/>
                <a:ea typeface="+mj-ea"/>
                <a:cs typeface="Source Serif 4" pitchFamily="34" charset="-120"/>
              </a:rPr>
              <a:t>이전 routing_node 참고하되 </a:t>
            </a:r>
            <a:r>
              <a:rPr lang="ko-KR" altLang="en-US" sz="1467" b="1" dirty="0">
                <a:solidFill>
                  <a:srgbClr val="504C49"/>
                </a:solidFill>
                <a:latin typeface="+mj-ea"/>
                <a:ea typeface="+mj-ea"/>
                <a:cs typeface="Source Serif 4 Bold" pitchFamily="34" charset="-120"/>
              </a:rPr>
              <a:t>override 허용</a:t>
            </a:r>
            <a:endParaRPr lang="ko-KR" altLang="en-US" sz="1467" dirty="0">
              <a:latin typeface="+mj-ea"/>
              <a:ea typeface="+mj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3CAFFF9-1217-4BCE-F54F-8B71A5138400}"/>
              </a:ext>
            </a:extLst>
          </p:cNvPr>
          <p:cNvSpPr/>
          <p:nvPr/>
        </p:nvSpPr>
        <p:spPr>
          <a:xfrm>
            <a:off x="10091057" y="6061165"/>
            <a:ext cx="2100943" cy="78377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93" y="1382017"/>
            <a:ext cx="969863" cy="355203"/>
          </a:xfrm>
          <a:prstGeom prst="roundRect">
            <a:avLst>
              <a:gd name="adj" fmla="val 6386"/>
            </a:avLst>
          </a:prstGeom>
          <a:solidFill>
            <a:srgbClr val="F3E3D8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4900" y="1438673"/>
            <a:ext cx="1352649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ko-KR" altLang="en-US" sz="1133" dirty="0">
                <a:solidFill>
                  <a:srgbClr val="504C49"/>
                </a:solidFill>
                <a:latin typeface="+mj-ea"/>
                <a:ea typeface="+mj-ea"/>
                <a:cs typeface="Source Serif 4" pitchFamily="34" charset="-120"/>
              </a:rPr>
              <a:t>시행착오 ③</a:t>
            </a:r>
            <a:endParaRPr lang="ko-KR" altLang="en-US" sz="1133" dirty="0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1493" y="1812826"/>
            <a:ext cx="815181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ko-KR" altLang="en-US" sz="3667" dirty="0">
                <a:solidFill>
                  <a:srgbClr val="201B18"/>
                </a:solidFill>
                <a:latin typeface="+mj-ea"/>
                <a:ea typeface="+mj-ea"/>
                <a:cs typeface="Platypi Medium" pitchFamily="34" charset="-120"/>
              </a:rPr>
              <a:t>임베딩 데이터 동기화 — Stale Cache</a:t>
            </a:r>
            <a:endParaRPr lang="ko-KR" altLang="en-US" sz="3667" dirty="0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661493" y="2686943"/>
            <a:ext cx="10869017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ko-KR" altLang="en-US" sz="1467" dirty="0">
                <a:solidFill>
                  <a:srgbClr val="504C49"/>
                </a:solidFill>
                <a:latin typeface="+mj-ea"/>
                <a:ea typeface="+mj-ea"/>
                <a:cs typeface="Source Serif 4" pitchFamily="34" charset="-120"/>
              </a:rPr>
              <a:t>벡터 DB에 가격·재고 같은 유동 데이터를 함께 임베딩하면 </a:t>
            </a:r>
            <a:r>
              <a:rPr lang="ko-KR" altLang="en-US" sz="1467" b="1" dirty="0">
                <a:solidFill>
                  <a:srgbClr val="504C49"/>
                </a:solidFill>
                <a:latin typeface="+mj-ea"/>
                <a:ea typeface="+mj-ea"/>
                <a:cs typeface="Source Serif 4 Bold" pitchFamily="34" charset="-120"/>
              </a:rPr>
              <a:t>Stale Cache 문제</a:t>
            </a:r>
            <a:r>
              <a:rPr lang="ko-KR" altLang="en-US" sz="1467" dirty="0">
                <a:solidFill>
                  <a:srgbClr val="504C49"/>
                </a:solidFill>
                <a:latin typeface="+mj-ea"/>
                <a:ea typeface="+mj-ea"/>
                <a:cs typeface="Source Serif 4" pitchFamily="34" charset="-120"/>
              </a:rPr>
              <a:t> 발생. 가격 변경 시 재생성 지연 동안 AI가 옛 가격으로 응답하는 사고 발생.</a:t>
            </a:r>
            <a:endParaRPr lang="ko-KR" altLang="en-US" sz="1467" dirty="0">
              <a:latin typeface="+mj-ea"/>
              <a:ea typeface="+mj-ea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93" y="3504407"/>
            <a:ext cx="5339953" cy="19715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7503" y="3718817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ko-KR" altLang="en-US" dirty="0">
                <a:solidFill>
                  <a:srgbClr val="504C49"/>
                </a:solidFill>
                <a:latin typeface="+mj-ea"/>
                <a:ea typeface="+mj-ea"/>
                <a:cs typeface="Platypi Medium" pitchFamily="34" charset="-120"/>
              </a:rPr>
              <a:t>원인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8" name="Text 5"/>
          <p:cNvSpPr/>
          <p:nvPr/>
        </p:nvSpPr>
        <p:spPr>
          <a:xfrm>
            <a:off x="977504" y="4127500"/>
            <a:ext cx="4809529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ko-KR" altLang="en-US" sz="1467" dirty="0">
                <a:solidFill>
                  <a:srgbClr val="504C49"/>
                </a:solidFill>
                <a:latin typeface="+mj-ea"/>
                <a:ea typeface="+mj-ea"/>
                <a:cs typeface="Source Serif 4" pitchFamily="34" charset="-120"/>
              </a:rPr>
              <a:t>벡터 임베딩은 '의미 검색'에 최적화된 도구. 자주 변하는 비즈니스 데이터는 임베딩 대상에서 제외해야 함.</a:t>
            </a:r>
            <a:endParaRPr lang="ko-KR" altLang="en-US" sz="1467" dirty="0">
              <a:latin typeface="+mj-ea"/>
              <a:ea typeface="+mj-ea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457" y="3504407"/>
            <a:ext cx="5340052" cy="19715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06468" y="3718817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ko-KR" altLang="en-US" dirty="0">
                <a:solidFill>
                  <a:srgbClr val="504C49"/>
                </a:solidFill>
                <a:latin typeface="+mj-ea"/>
                <a:ea typeface="+mj-ea"/>
                <a:cs typeface="Platypi Medium" pitchFamily="34" charset="-120"/>
              </a:rPr>
              <a:t>해결: 저장소 분리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506468" y="4127501"/>
            <a:ext cx="4809629" cy="1134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3000"/>
              </a:lnSpc>
            </a:pPr>
            <a:r>
              <a:rPr lang="ko-KR" altLang="en-US" sz="1467" b="1" dirty="0">
                <a:solidFill>
                  <a:srgbClr val="504C49"/>
                </a:solidFill>
                <a:latin typeface="+mj-ea"/>
                <a:ea typeface="+mj-ea"/>
                <a:cs typeface="Source Serif 4 Bold" pitchFamily="34" charset="-120"/>
              </a:rPr>
              <a:t>고정 데이터 → 벡터 DB</a:t>
            </a:r>
            <a:r>
              <a:rPr lang="ko-KR" altLang="en-US" sz="1467" dirty="0">
                <a:solidFill>
                  <a:srgbClr val="504C49"/>
                </a:solidFill>
                <a:latin typeface="+mj-ea"/>
                <a:ea typeface="+mj-ea"/>
                <a:cs typeface="Source Serif 4" pitchFamily="34" charset="-120"/>
              </a:rPr>
              <a:t> (메뉴명, 설명, 해시태그, 알레르기)</a:t>
            </a:r>
            <a:endParaRPr lang="ko-KR" altLang="en-US" sz="1467" dirty="0">
              <a:latin typeface="+mj-ea"/>
              <a:ea typeface="+mj-ea"/>
            </a:endParaRPr>
          </a:p>
          <a:p>
            <a:pPr>
              <a:lnSpc>
                <a:spcPct val="133000"/>
              </a:lnSpc>
            </a:pPr>
            <a:r>
              <a:rPr lang="ko-KR" altLang="en-US" sz="1467" b="1" dirty="0">
                <a:solidFill>
                  <a:srgbClr val="504C49"/>
                </a:solidFill>
                <a:latin typeface="+mj-ea"/>
                <a:ea typeface="+mj-ea"/>
                <a:cs typeface="Source Serif 4 Bold" pitchFamily="34" charset="-120"/>
              </a:rPr>
              <a:t>유동 데이터 → Redis</a:t>
            </a:r>
            <a:r>
              <a:rPr lang="ko-KR" altLang="en-US" sz="1467" dirty="0">
                <a:solidFill>
                  <a:srgbClr val="504C49"/>
                </a:solidFill>
                <a:latin typeface="+mj-ea"/>
                <a:ea typeface="+mj-ea"/>
                <a:cs typeface="Source Serif 4" pitchFamily="34" charset="-120"/>
              </a:rPr>
              <a:t> (가격, 재고, 할인)</a:t>
            </a:r>
            <a:endParaRPr lang="ko-KR" altLang="en-US" sz="1467" dirty="0">
              <a:latin typeface="+mj-ea"/>
              <a:ea typeface="+mj-ea"/>
            </a:endParaRPr>
          </a:p>
          <a:p>
            <a:pPr>
              <a:lnSpc>
                <a:spcPct val="133000"/>
              </a:lnSpc>
            </a:pPr>
            <a:r>
              <a:rPr lang="ko-KR" altLang="en-US" sz="1467" dirty="0">
                <a:solidFill>
                  <a:srgbClr val="504C49"/>
                </a:solidFill>
                <a:latin typeface="+mj-ea"/>
                <a:ea typeface="+mj-ea"/>
                <a:cs typeface="Source Serif 4" pitchFamily="34" charset="-120"/>
              </a:rPr>
              <a:t>AI가 벡터 검색 후 Redis에서 최신 가격 완성</a:t>
            </a:r>
            <a:endParaRPr lang="ko-KR" altLang="en-US" sz="1467" dirty="0">
              <a:latin typeface="+mj-ea"/>
              <a:ea typeface="+mj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FD1AE85-DA22-6916-BBDE-B4E153EAB23E}"/>
              </a:ext>
            </a:extLst>
          </p:cNvPr>
          <p:cNvSpPr/>
          <p:nvPr/>
        </p:nvSpPr>
        <p:spPr>
          <a:xfrm>
            <a:off x="10091057" y="6021979"/>
            <a:ext cx="2100943" cy="78377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92" y="596007"/>
            <a:ext cx="1016893" cy="250229"/>
          </a:xfrm>
          <a:prstGeom prst="roundRect">
            <a:avLst>
              <a:gd name="adj" fmla="val 6940"/>
            </a:avLst>
          </a:prstGeom>
          <a:noFill/>
          <a:ln/>
          <a:effectLst>
            <a:outerShdw blurRad="101600" dist="50800" dir="16200000" algn="bl" rotWithShape="0">
              <a:srgbClr val="3E2513">
                <a:alpha val="100000"/>
              </a:srgbClr>
            </a:outerShdw>
          </a:effectLst>
        </p:spPr>
        <p:txBody>
          <a:bodyPr/>
          <a:lstStyle/>
          <a:p>
            <a:endParaRPr lang="ko-KR" altLang="en-US" sz="240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748309" y="639365"/>
            <a:ext cx="1452860" cy="163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ko-KR" altLang="en-US" sz="867" dirty="0">
                <a:solidFill>
                  <a:srgbClr val="3E2513"/>
                </a:solidFill>
                <a:latin typeface="+mj-ea"/>
                <a:ea typeface="+mj-ea"/>
                <a:cs typeface="Source Serif 4" pitchFamily="34" charset="-120"/>
              </a:rPr>
              <a:t>10 향후 개선 방향</a:t>
            </a:r>
            <a:endParaRPr lang="ko-KR" altLang="en-US" sz="867" dirty="0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1493" y="890489"/>
            <a:ext cx="4227612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ko-KR" altLang="en-US" sz="2800" dirty="0">
                <a:solidFill>
                  <a:srgbClr val="201B18"/>
                </a:solidFill>
                <a:latin typeface="+mj-ea"/>
                <a:ea typeface="+mj-ea"/>
                <a:cs typeface="Platypi Medium" pitchFamily="34" charset="-120"/>
              </a:rPr>
              <a:t>향후 개선 방향</a:t>
            </a:r>
            <a:endParaRPr lang="ko-KR" altLang="en-US" sz="2800" dirty="0">
              <a:latin typeface="+mj-ea"/>
              <a:ea typeface="+mj-ea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92" y="1508919"/>
            <a:ext cx="361752" cy="36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93" y="2009081"/>
            <a:ext cx="180895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ko-KR" altLang="en-US" sz="1400" dirty="0">
                <a:solidFill>
                  <a:srgbClr val="504C49"/>
                </a:solidFill>
                <a:latin typeface="+mj-ea"/>
                <a:ea typeface="+mj-ea"/>
                <a:cs typeface="Platypi Medium" pitchFamily="34" charset="-120"/>
              </a:rPr>
              <a:t>음성 인식 고도화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7" name="Text 4"/>
          <p:cNvSpPr/>
          <p:nvPr/>
        </p:nvSpPr>
        <p:spPr>
          <a:xfrm>
            <a:off x="661492" y="2301578"/>
            <a:ext cx="5365253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ko-KR" altLang="en-US" sz="1133" dirty="0">
                <a:solidFill>
                  <a:srgbClr val="504C49"/>
                </a:solidFill>
                <a:latin typeface="+mj-ea"/>
                <a:ea typeface="+mj-ea"/>
                <a:cs typeface="Source Serif 4" pitchFamily="34" charset="-120"/>
              </a:rPr>
              <a:t>Web Speech API → Whisper API 전환, 도어즈 환경 대응 강화</a:t>
            </a:r>
            <a:endParaRPr lang="ko-KR" altLang="en-US" sz="1133" dirty="0">
              <a:latin typeface="+mj-ea"/>
              <a:ea typeface="+mj-ea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5156" y="1508919"/>
            <a:ext cx="361752" cy="36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65157" y="2009081"/>
            <a:ext cx="180895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ko-KR" altLang="en-US" sz="1400" dirty="0">
                <a:solidFill>
                  <a:srgbClr val="504C49"/>
                </a:solidFill>
                <a:latin typeface="+mj-ea"/>
                <a:ea typeface="+mj-ea"/>
                <a:cs typeface="Platypi Medium" pitchFamily="34" charset="-120"/>
              </a:rPr>
              <a:t>다국어 지원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165157" y="2301578"/>
            <a:ext cx="5365353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ko-KR" altLang="en-US" sz="1133" dirty="0">
                <a:solidFill>
                  <a:srgbClr val="504C49"/>
                </a:solidFill>
                <a:latin typeface="+mj-ea"/>
                <a:ea typeface="+mj-ea"/>
                <a:cs typeface="Source Serif 4" pitchFamily="34" charset="-120"/>
              </a:rPr>
              <a:t>next-intl 기반 i18n 확장 — 한국어 + 영어 + 중국어/일본어</a:t>
            </a:r>
            <a:endParaRPr lang="ko-KR" altLang="en-US" sz="1133" dirty="0">
              <a:latin typeface="+mj-ea"/>
              <a:ea typeface="+mj-ea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92" y="2727524"/>
            <a:ext cx="361752" cy="3617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61493" y="3227686"/>
            <a:ext cx="180895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ko-KR" altLang="en-US" sz="1400" dirty="0">
                <a:solidFill>
                  <a:srgbClr val="504C49"/>
                </a:solidFill>
                <a:latin typeface="+mj-ea"/>
                <a:ea typeface="+mj-ea"/>
                <a:cs typeface="Platypi Medium" pitchFamily="34" charset="-120"/>
              </a:rPr>
              <a:t>AI 분석 대시보드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3" name="Text 8"/>
          <p:cNvSpPr/>
          <p:nvPr/>
        </p:nvSpPr>
        <p:spPr>
          <a:xfrm>
            <a:off x="661492" y="3520183"/>
            <a:ext cx="5365253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ko-KR" altLang="en-US" sz="1133" dirty="0">
                <a:solidFill>
                  <a:srgbClr val="504C49"/>
                </a:solidFill>
                <a:latin typeface="+mj-ea"/>
                <a:ea typeface="+mj-ea"/>
                <a:cs typeface="Source Serif 4" pitchFamily="34" charset="-120"/>
              </a:rPr>
              <a:t>대화 패턴 분석, 메뉴 추천 효과 측정, A/B 테스트 기반 프롬프트 최적화</a:t>
            </a:r>
            <a:endParaRPr lang="ko-KR" altLang="en-US" sz="1133" dirty="0">
              <a:latin typeface="+mj-ea"/>
              <a:ea typeface="+mj-ea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65156" y="2727524"/>
            <a:ext cx="361752" cy="36175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65157" y="3227686"/>
            <a:ext cx="180895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ko-KR" altLang="en-US" sz="1400" dirty="0">
                <a:solidFill>
                  <a:srgbClr val="504C49"/>
                </a:solidFill>
                <a:latin typeface="+mj-ea"/>
                <a:ea typeface="+mj-ea"/>
                <a:cs typeface="Platypi Medium" pitchFamily="34" charset="-120"/>
              </a:rPr>
              <a:t>외부 장비 연동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6165157" y="3520183"/>
            <a:ext cx="5365353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8000"/>
              </a:lnSpc>
            </a:pPr>
            <a:r>
              <a:rPr lang="ko-KR" altLang="en-US" sz="1133" dirty="0">
                <a:solidFill>
                  <a:srgbClr val="504C49"/>
                </a:solidFill>
                <a:latin typeface="+mj-ea"/>
                <a:ea typeface="+mj-ea"/>
                <a:cs typeface="Source Serif 4" pitchFamily="34" charset="-120"/>
              </a:rPr>
              <a:t>영수증 프린터, 카드결제(VAN) 단말기 — Mock → 실제 SDK 교체 (인터페이스 추상화 완료)</a:t>
            </a:r>
            <a:endParaRPr lang="ko-KR" altLang="en-US" sz="1133" dirty="0">
              <a:latin typeface="+mj-ea"/>
              <a:ea typeface="+mj-ea"/>
            </a:endParaRPr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92" y="4150519"/>
            <a:ext cx="361752" cy="36175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61493" y="4650681"/>
            <a:ext cx="180895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ko-KR" altLang="en-US" sz="1400" dirty="0">
                <a:solidFill>
                  <a:srgbClr val="504C49"/>
                </a:solidFill>
                <a:latin typeface="+mj-ea"/>
                <a:ea typeface="+mj-ea"/>
                <a:cs typeface="Platypi Medium" pitchFamily="34" charset="-120"/>
              </a:rPr>
              <a:t>클라우드 배포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661492" y="4943178"/>
            <a:ext cx="5365253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ko-KR" altLang="en-US" sz="1133" dirty="0">
                <a:solidFill>
                  <a:srgbClr val="504C49"/>
                </a:solidFill>
                <a:latin typeface="+mj-ea"/>
                <a:ea typeface="+mj-ea"/>
                <a:cs typeface="Source Serif 4" pitchFamily="34" charset="-120"/>
              </a:rPr>
              <a:t>Oracle Cloud Free Tier 배포, CI/CD 파이프라인 구축, 모니터링</a:t>
            </a:r>
            <a:endParaRPr lang="ko-KR" altLang="en-US" sz="1133" dirty="0">
              <a:latin typeface="+mj-ea"/>
              <a:ea typeface="+mj-ea"/>
            </a:endParaRPr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65156" y="4150519"/>
            <a:ext cx="361752" cy="36175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165157" y="4650681"/>
            <a:ext cx="180895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ko-KR" altLang="en-US" sz="1400" dirty="0">
                <a:solidFill>
                  <a:srgbClr val="504C49"/>
                </a:solidFill>
                <a:latin typeface="+mj-ea"/>
                <a:ea typeface="+mj-ea"/>
                <a:cs typeface="Platypi Medium" pitchFamily="34" charset="-120"/>
              </a:rPr>
              <a:t>모바일 주문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6165157" y="4943178"/>
            <a:ext cx="5365353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ko-KR" altLang="en-US" sz="1133" dirty="0">
                <a:solidFill>
                  <a:srgbClr val="504C49"/>
                </a:solidFill>
                <a:latin typeface="+mj-ea"/>
                <a:ea typeface="+mj-ea"/>
                <a:cs typeface="Source Serif 4" pitchFamily="34" charset="-120"/>
              </a:rPr>
              <a:t>PWA 기반 모바일 사전 주문, QR 코드 → 테이블 오더 확장</a:t>
            </a:r>
            <a:endParaRPr lang="ko-KR" altLang="en-US" sz="1133" dirty="0">
              <a:latin typeface="+mj-ea"/>
              <a:ea typeface="+mj-ea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661493" y="5308303"/>
            <a:ext cx="10869017" cy="19051"/>
          </a:xfrm>
          <a:prstGeom prst="roundRect">
            <a:avLst>
              <a:gd name="adj" fmla="val 59998"/>
            </a:avLst>
          </a:prstGeom>
          <a:solidFill>
            <a:srgbClr val="504C49">
              <a:alpha val="50000"/>
            </a:srgbClr>
          </a:solidFill>
          <a:ln/>
        </p:spPr>
        <p:txBody>
          <a:bodyPr/>
          <a:lstStyle/>
          <a:p>
            <a:endParaRPr lang="ko-KR" altLang="en-US" sz="2400">
              <a:latin typeface="+mj-ea"/>
              <a:ea typeface="+mj-ea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661493" y="5529660"/>
            <a:ext cx="3504009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ko-KR" altLang="en-US" sz="2267" dirty="0">
                <a:solidFill>
                  <a:srgbClr val="201B18"/>
                </a:solidFill>
                <a:latin typeface="+mj-ea"/>
                <a:ea typeface="+mj-ea"/>
                <a:cs typeface="Platypi Medium" pitchFamily="34" charset="-120"/>
              </a:rPr>
              <a:t>감사합니다</a:t>
            </a:r>
            <a:endParaRPr lang="ko-KR" altLang="en-US" sz="2267" dirty="0">
              <a:latin typeface="+mj-ea"/>
              <a:ea typeface="+mj-ea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661493" y="6057603"/>
            <a:ext cx="11478617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ko-KR" altLang="en-US" sz="1133" dirty="0">
                <a:solidFill>
                  <a:srgbClr val="504C49"/>
                </a:solidFill>
                <a:latin typeface="+mj-ea"/>
                <a:ea typeface="+mj-ea"/>
                <a:cs typeface="Source Serif 4" pitchFamily="34" charset="-120"/>
              </a:rPr>
              <a:t>SmartOrder AI — AI 기반 음성/터치 하이브리드 키오스크 시스템</a:t>
            </a:r>
            <a:endParaRPr lang="ko-KR" altLang="en-US" sz="1133" dirty="0">
              <a:latin typeface="+mj-ea"/>
              <a:ea typeface="+mj-ea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38F9126-BFEF-5F1C-A410-5103C33D8D58}"/>
              </a:ext>
            </a:extLst>
          </p:cNvPr>
          <p:cNvSpPr/>
          <p:nvPr/>
        </p:nvSpPr>
        <p:spPr>
          <a:xfrm>
            <a:off x="10091057" y="6021979"/>
            <a:ext cx="2100943" cy="78377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1104</Words>
  <Application>Microsoft Office PowerPoint</Application>
  <PresentationFormat>와이드스크린</PresentationFormat>
  <Paragraphs>189</Paragraphs>
  <Slides>16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5" baseType="lpstr">
      <vt:lpstr>Platypi Medium</vt:lpstr>
      <vt:lpstr>Source Serif 4</vt:lpstr>
      <vt:lpstr>맑은 고딕</vt:lpstr>
      <vt:lpstr>Arial</vt:lpstr>
      <vt:lpstr>Calibri</vt:lpstr>
      <vt:lpstr>Consolas</vt:lpstr>
      <vt:lpstr>Platypi Light</vt:lpstr>
      <vt:lpstr>Source Serif 4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재준 이</cp:lastModifiedBy>
  <cp:revision>8</cp:revision>
  <cp:lastPrinted>2026-07-02T03:25:33Z</cp:lastPrinted>
  <dcterms:created xsi:type="dcterms:W3CDTF">2013-01-27T09:14:16Z</dcterms:created>
  <dcterms:modified xsi:type="dcterms:W3CDTF">2026-07-02T03:55:13Z</dcterms:modified>
  <cp:category/>
</cp:coreProperties>
</file>